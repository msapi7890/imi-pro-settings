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52525" y="1637407"/>
            <a:ext cx="104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IMI PRO 26.04 v.1.0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52525" y="2098327"/>
            <a:ext cx="1098137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실무의 정확성을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기술로 완성하다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52525" y="4536727"/>
            <a:ext cx="5715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단순 검색을 넘어, 완벽한 해답을 제시하는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지능형 상담 어시스턴트 시스템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865882"/>
            <a:ext cx="16764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01. 프로젝트 배경 및 필요성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76300" y="3565177"/>
            <a:ext cx="232600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상담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리스크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방지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76300" y="4279552"/>
            <a:ext cx="2524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방대한 매뉴얼 속 오안내로 인한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기업 신뢰도 하락 및 치명적인 사고를 사전에 완벽하게 차단합니다.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48200" y="3565177"/>
            <a:ext cx="259597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업무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생산성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극대화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4648200" y="4279552"/>
            <a:ext cx="2314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수동 검색의 한계를 뛰어넘어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필요한 정보를 즉시 찾아내는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지능형 검색 시스템을 구현합니다.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20100" y="3565177"/>
            <a:ext cx="23662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품질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상향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평준화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420100" y="4279552"/>
            <a:ext cx="24765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상담사 개인의 숙련도에 무관하게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항상 일관된 고품질 답변을 제공하는 표준화 업무 환경을 조성합니다.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75555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62512" y="275555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0600" y="275555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59" y="1562100"/>
            <a:ext cx="45529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8025" y="1562100"/>
            <a:ext cx="455295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02. 혁신적 패러다임 전환 (AS-IS vs TO-BE)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1981200"/>
            <a:ext cx="13430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71550" y="2409825"/>
            <a:ext cx="396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rPr>
              <a:t>수동 검색의 한계와 리스크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3781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48550" y="1981200"/>
            <a:ext cx="1714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448550" y="2409825"/>
            <a:ext cx="396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EE7B7"/>
                </a:solidFill>
                <a:latin typeface="Poppins"/>
                <a:ea typeface="Poppins"/>
                <a:cs typeface="Poppins"/>
                <a:sym typeface="Poppins"/>
              </a:rPr>
              <a:t>지능형 시스템을 통한 해결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76039" y="3095625"/>
            <a:ext cx="33674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단순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키워드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매칭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으로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dirty="0" err="1">
                <a:solidFill>
                  <a:srgbClr val="CBD5E1"/>
                </a:solidFill>
              </a:rPr>
              <a:t>지연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376039" y="3590925"/>
            <a:ext cx="3367411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모드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구분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개념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부재로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매니아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베이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별도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운영의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endParaRPr sz="1500" b="0" dirty="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376039" y="4391025"/>
            <a:ext cx="35561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저하를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유발하는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고정된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UI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376039" y="4886325"/>
            <a:ext cx="33674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확인을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잦은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화면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전환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반복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936637" y="3095625"/>
            <a:ext cx="3472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팩트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매뉴얼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매핑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7936637" y="35909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색상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듀얼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모드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완벽한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플랫폼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분리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7936637" y="43910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컨디션에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맞춘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멀티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테마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(Dark/Green/White)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7936637" y="51911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지능형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대시보드</a:t>
            </a:r>
            <a:endParaRPr dirty="0"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316702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35909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445381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6254" y="493238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62711" y="31553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3391" y="365459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3391" y="445317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4685" y="526256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03. 기능 상세: 정확한 팩트 기반 검색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1562100"/>
            <a:ext cx="5490686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단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2초</a:t>
            </a: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만에 도달하는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가장 완벽한 정답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3131641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정밀 타겟팅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질문의 의도를 정확히 파악하여 수천 페이지의 규정 중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가장 알맞은 위치를 실시간으로 찾아냅니다.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62025" y="4427041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핵심 문장 자동 강조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방대한 텍스트 속에서 반드시 읽어야 할 필수 문구만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하이라이트 처리하여 상담사의 인지 속도를 극대화합니다.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7762" y="3314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4116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3656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3175" y="1562100"/>
            <a:ext cx="4597683" cy="2113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800" y="2919412"/>
            <a:ext cx="4548782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81025" y="581025"/>
            <a:ext cx="5190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04. 기능 상세: 압도적 시인성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1892200"/>
            <a:ext cx="519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막힘없는 판독 환경,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스마트 뷰어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48575" y="3238500"/>
            <a:ext cx="5523050" cy="2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스마트</a:t>
            </a:r>
            <a:r>
              <a:rPr lang="en-US" sz="1526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모달</a:t>
            </a:r>
            <a:r>
              <a:rPr lang="en-US" sz="1526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줌 </a:t>
            </a: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시스템</a:t>
            </a:r>
            <a:endParaRPr sz="1526" b="1" dirty="0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81025" y="3571875"/>
            <a:ext cx="4943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모달 팝업 내 상단 컨트롤러를 통해 미세한 텍스트 픽셀까지 자유롭게 확대/축소하여 눈의 피로를 최소화합니다.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248575" y="5334000"/>
            <a:ext cx="5523050" cy="2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6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지능형 페이지 네이션</a:t>
            </a:r>
            <a:endParaRPr sz="1526" b="1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81025" y="5667375"/>
            <a:ext cx="4943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여러 페이지로 구성된 매뉴얼도 끊김이나 지연 없이, 전체 규정을 마치 한 권의 책처럼 신속하게 열람할 수 있습니다.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450" y="747625"/>
            <a:ext cx="4943401" cy="26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48575" y="4286250"/>
            <a:ext cx="552305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다중 멀티뷰 시스템</a:t>
            </a:r>
            <a:endParaRPr sz="1650" b="1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4619625"/>
            <a:ext cx="494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여러 개의 매뉴얼을 동시에 활성화하여 비교 분석이 가능하며, 복잡한 업무 프로세스도 한눈에 파악할 수 있습니다.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2450" y="3571875"/>
            <a:ext cx="4943401" cy="27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7554"/>
            <a:ext cx="5229225" cy="3684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77554"/>
            <a:ext cx="5229225" cy="3684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05. 기능 상세: 착오 방지를 위한 듀얼 모드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05276" y="1577429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실수를 </a:t>
            </a:r>
            <a:r>
              <a:rPr lang="en-US" sz="27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디자인으로 원천 차단</a:t>
            </a:r>
            <a:r>
              <a:rPr lang="en-US" sz="27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하다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75" y="2977604"/>
            <a:ext cx="14382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81075" y="3596729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명확한 한색 계열의 </a:t>
            </a:r>
            <a:r>
              <a:rPr lang="en-US" sz="1350" b="1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Blue 테마</a:t>
            </a: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를 적용하여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현재 응대 중인 플랫폼이 '매니아' 채널임을 직관적으로 인지시킵니다.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2977604"/>
            <a:ext cx="1219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781800" y="3596729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강렬한 난색 계열의 </a:t>
            </a:r>
            <a:r>
              <a:rPr lang="en-US" sz="1350" b="1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Red 테마</a:t>
            </a: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를 적용하여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플랫폼간 업무 착오 및 치명적인 오안내 가능성을 디자인적으로 차단합니다.</a:t>
            </a:r>
            <a:endParaRPr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71787" y="480060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981075" y="5514975"/>
            <a:ext cx="44291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탭 전환 시 실시간 테마 컬러 변경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72512" y="480060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781800" y="5514975"/>
            <a:ext cx="44291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시각적 모드 동기화 시스템 작동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06. 기능 상세: 상담 템플릿 자동화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81025" y="1562100"/>
            <a:ext cx="549068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상담의 품질을 결정하는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절대적 가독성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62025" y="29337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실시간 가독성 구조화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단락 구분과 강조 기호가 자동 적용된 정제된 답변으로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고객에게 브랜드의 전문성을 각인시킵니다.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62025" y="42291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원클릭 복사 및 실시간 알림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'복사됨' 알림 시각화로 상담사에게 작업 확신을 주며,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휴먼 에러(오타)가 배제된 100% 표준 응대를 보장합니다.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48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43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1225" y="2037400"/>
            <a:ext cx="5798715" cy="27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62100"/>
            <a:ext cx="11029950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48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07. 기능 상세: 통합 아카이브 및 스마트 도구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09625" y="1752600"/>
            <a:ext cx="10610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[긴급] 전사 시스템 점검 — 금일 14시부터 서비스 일시 중단 예정. 매뉴얼 숙지 바랍니다.</a:t>
            </a:r>
            <a:endParaRPr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184461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3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053297" y="3999250"/>
            <a:ext cx="254160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100" b="1" i="0" u="none" strike="noStrike" cap="none" dirty="0" smtClean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년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+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통합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아카이브</a:t>
            </a:r>
            <a:endParaRPr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791407" y="4703415"/>
            <a:ext cx="306538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2019년부터 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2026년까지의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공지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smtClean="0">
                <a:solidFill>
                  <a:srgbClr val="94A3B8"/>
                </a:solidFill>
              </a:rPr>
              <a:t>3,00</a:t>
            </a: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0건 </a:t>
            </a:r>
            <a:r>
              <a:rPr lang="ko-KR" alt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이상</a:t>
            </a: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을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DB화하여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키워드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하나로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고속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검색을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지원합니다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82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4855715" y="3979857"/>
            <a:ext cx="24805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스마트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플로팅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메모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4406052" y="4703415"/>
            <a:ext cx="341799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위치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크기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조절이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가능한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메모장으로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시스템을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개인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업무를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기록하고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보존합니다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01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8485018" y="3979857"/>
            <a:ext cx="27657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실시간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긴급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공지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티커</a:t>
            </a:r>
            <a:endParaRPr dirty="0"/>
          </a:p>
        </p:txBody>
      </p:sp>
      <p:sp>
        <p:nvSpPr>
          <p:cNvPr id="220" name="Google Shape;220;p20"/>
          <p:cNvSpPr txBox="1"/>
          <p:nvPr/>
        </p:nvSpPr>
        <p:spPr>
          <a:xfrm>
            <a:off x="8420099" y="4703415"/>
            <a:ext cx="300037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긴급한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이슈를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상단에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흐르는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자막으로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지속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노출하여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상담사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간의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지연을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제로화합니다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66800" y="31794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62512" y="3179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600" y="3179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08. 기능 상세: 지능형 시간 관리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81025" y="1562100"/>
            <a:ext cx="549068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업무와 교육의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지능적 통합 관리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29337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교육 이력 실시간 연동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스케줄 시스템을 통한 효율적인 업무 분배.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관리자는 지난 업무 환경을 확인하여 최적의 운영이 가능합니다.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62025" y="42291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실무 수행 내역 셀 기록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시간대별 처리 업무와 이수 교육 이력을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달력 셀에 메모로 직접 첨부하여 개인 생산성을 데이터화합니다.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43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38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1225" y="1890943"/>
            <a:ext cx="5620767" cy="298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3152"/>
            <a:ext cx="3486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09. 기능 상세: 실무자 맞춤형 멀티 테마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3235642" y="1888777"/>
            <a:ext cx="572071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주변 조도와 개인 컨디션에 맞춰 선택하는 </a:t>
            </a: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3가지 시각 보호 UI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938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WHITE MODE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810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밝은 환경에 최적화된 명료함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2657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GREEN MODE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3529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안구 피로도를 획기적으로 저감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0376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DARK MODE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1248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야간 및 집중력 향상을 위한 UI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340325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419725" y="4031902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[ Green Theme 이미지 ]</a:t>
            </a:r>
            <a:endParaRPr/>
          </a:p>
        </p:txBody>
      </p:sp>
      <p:pic>
        <p:nvPicPr>
          <p:cNvPr id="252" name="Google Shape;2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25" y="2622200"/>
            <a:ext cx="3448049" cy="2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2450" y="2622200"/>
            <a:ext cx="3486151" cy="2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1975" y="2622200"/>
            <a:ext cx="3448049" cy="22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942" y="1880294"/>
            <a:ext cx="5495032" cy="4078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685157"/>
            <a:ext cx="4582417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1717" y="3790950"/>
            <a:ext cx="4523482" cy="152950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10. 기술 스택 및 압도적 비용 효율성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581025" y="2319486"/>
            <a:ext cx="458241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개발 운영비 절감율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581025" y="4304407"/>
            <a:ext cx="45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유지비 </a:t>
            </a:r>
            <a:r>
              <a:rPr lang="en-US" sz="2400" b="1">
                <a:solidFill>
                  <a:srgbClr val="F8FAFC"/>
                </a:solidFill>
              </a:rPr>
              <a:t>최소화</a:t>
            </a:r>
            <a:r>
              <a:rPr lang="en-US" sz="2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, 관리 효율 10배 상승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601717" y="2366069"/>
            <a:ext cx="47496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Serverless Architecture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601717" y="2956619"/>
            <a:ext cx="4523482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기존 On-Premise 구축 방식의 무거운 초기 도입 비용과 유지 비용을 혁신적으로 탈피했습니다.</a:t>
            </a:r>
            <a:endParaRPr/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1717" y="2423219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6601717" y="4314825"/>
            <a:ext cx="452348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Firebase × Claude API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01717" y="4832895"/>
            <a:ext cx="452348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하드웨어 유지비 없이, 완벽한 실시간 보안 관리 및 최고 수준의 AI 언어 모델을 결합하여 무한한 확장성을 제공합니다.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81025" y="5047357"/>
            <a:ext cx="1085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상담 품질 일관성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313125" y="5245452"/>
            <a:ext cx="10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952625" y="5047357"/>
            <a:ext cx="1085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오안내 사고율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716875" y="5245452"/>
            <a:ext cx="10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23975" y="533682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95575" y="5336827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77592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3365658" y="962025"/>
            <a:ext cx="5460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미래를 향한 확장, </a:t>
            </a:r>
            <a:endParaRPr sz="3600" b="1" i="0" u="none" strike="noStrike" cap="none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향후 로드맵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4014750" y="2168475"/>
            <a:ext cx="416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실무의 한계를 넘는 혁신, IMI PRO의 진화는 계속됩니다.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067100" y="6052934"/>
            <a:ext cx="40576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AI CONTEST 2026</a:t>
            </a:r>
            <a:endParaRPr dirty="0"/>
          </a:p>
        </p:txBody>
      </p:sp>
      <p:sp>
        <p:nvSpPr>
          <p:cNvPr id="286" name="Google Shape;286;p24"/>
          <p:cNvSpPr txBox="1"/>
          <p:nvPr/>
        </p:nvSpPr>
        <p:spPr>
          <a:xfrm>
            <a:off x="1456283" y="2867025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01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456283" y="3198000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멀티모달 이미지 분석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456283" y="3514875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스크린샷 자동 원인 판독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즉각적인 해결 가이드 제시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765327" y="4291463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02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722452" y="4668263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실시간 콜 평가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722452" y="4998850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평가표 기반 자동 코칭 시스템 도입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및 전체 상담 데이터화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8074372" y="2867025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03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074372" y="3198000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기본 문의 자동 상담 (AI)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074372" y="3514875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일반 문의에 대</a:t>
            </a:r>
            <a:r>
              <a:rPr lang="en-US" sz="1200">
                <a:solidFill>
                  <a:srgbClr val="94A3B8"/>
                </a:solidFill>
              </a:rPr>
              <a:t>해</a:t>
            </a: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94A3B8"/>
                </a:solidFill>
              </a:rPr>
              <a:t>전화연결없이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선제적 해결 방안 제시 및 휴먼 리소스 최적화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2672581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981625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9290670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44000" y="136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맑은 고딕"/>
              </a:rPr>
              <a:t>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872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맑은 고딕"/>
              </a:rPr>
              <a:t>신규 기능 업데이트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3096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맑은 고딕"/>
              </a:rPr>
              <a:t>IMI BOT 모니터링  ·  Firebase 원격 제어  ·  권한 체계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4000" y="6263999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647A"/>
                </a:solidFill>
                <a:latin typeface="맑은 고딕"/>
              </a:rPr>
              <a:t>v2.0  —  2026.05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10.  IMI BOT 모니터링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44000"/>
            <a:ext cx="113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키워드·가격 조건을 사전 등록하면, 봇이 아이템매니아를 자동으로 감시하여 조건에 맞는 물품 발견 시 팀 전체에 즉시 알림을 보냅니다.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620000"/>
            <a:ext cx="34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맑은 고딕"/>
              </a:rPr>
              <a:t>1  감시 규칙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999" y="1944000"/>
            <a:ext cx="3456000" cy="42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감시할 URL, 키워드, 최소 가격 등록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여러 게임·카테고리 동시 등록 가능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등록 전 테스트 기능으로 결과 미리 확인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규칙별 활성/비활성 개별 제어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예) "리니지M" 카테고리에서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  "다이아" 키워드 + 50만원 이상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8000" y="1620000"/>
            <a:ext cx="34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맑은 고딕"/>
              </a:rPr>
              <a:t>2  자동 스캔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8000" y="1944000"/>
            <a:ext cx="3456000" cy="42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확장프로그램이 지정 페이지 반복 조회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설정한 주기(기본 5초)마다 새로 스캔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조건 일치 항목 즉시 감지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감시 탭이 닫혀도 2초 후 자동 재오픈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확장프로그램 없이도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웹 대시보드 단독 스캔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000" y="1620000"/>
            <a:ext cx="345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맑은 고딕"/>
              </a:rPr>
              <a:t>3  팀 전체 즉시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000" y="1944000"/>
            <a:ext cx="3456000" cy="42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감지 즉시 3가지 방법으로 동시 알림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Firebase 통해 모든 접속자에게 전달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브라우저 최소화해도 시스템 알림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감지 이력 24시간 로그 보관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불필요 항목은 [필터제외]로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팀 공유 차단 목록 즉시 등록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11.  Firebase 원격 봇 제어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44000"/>
            <a:ext cx="113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확장프로그램이 설치되지 않은 PC에서도 웹 대시보드를 통해 봇을 즉시 중지·시작할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512000"/>
            <a:ext cx="5400000" cy="4788000"/>
          </a:xfrm>
          <a:prstGeom prst="rect">
            <a:avLst/>
          </a:prstGeom>
          <a:solidFill>
            <a:srgbClr val="1C0A0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000" y="162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맑은 고딕"/>
              </a:rPr>
              <a:t>기존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1944000"/>
            <a:ext cx="5112000" cy="42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맑은 고딕"/>
              </a:rPr>
              <a:t>확장프로그램이 설치된 PC에서만</a:t>
            </a:r>
          </a:p>
          <a:p>
            <a:r>
              <a:rPr sz="1300" b="0">
                <a:solidFill>
                  <a:srgbClr val="F8FAFC"/>
                </a:solidFill>
                <a:latin typeface="맑은 고딕"/>
              </a:rPr>
              <a:t>봇을 제어할 수 있었습니다.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담당자 자리 비우면 긴급 중지 불가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다른 PC·기기에서 원격 접근 불가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확장프로그램 미설치 PC는 무력화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봇 중지 버튼이 확장프로그램</a:t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미연결 시 비활성화 상태였음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0" y="1512000"/>
            <a:ext cx="5688000" cy="4788000"/>
          </a:xfrm>
          <a:prstGeom prst="rect">
            <a:avLst/>
          </a:prstGeom>
          <a:solidFill>
            <a:srgbClr val="051A0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6000" y="162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맑은 고딕"/>
              </a:rPr>
              <a:t>개선된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6000" y="1944000"/>
            <a:ext cx="5400000" cy="42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맑은 고딕"/>
              </a:rPr>
              <a:t>웹 대시보드에서 언제 어디서나</a:t>
            </a:r>
          </a:p>
          <a:p>
            <a:r>
              <a:rPr sz="1300" b="0">
                <a:solidFill>
                  <a:srgbClr val="F8FAFC"/>
                </a:solidFill>
                <a:latin typeface="맑은 고딕"/>
              </a:rPr>
              <a:t>봇을 제어할 수 있습니다.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인터넷이 되는 기기면 어디서나 가능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봇 중지 버튼 항상 활성화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명령은 최대 1분 이내 자동 반영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확장프로그램 있으면 즉시 반영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Firebase를 통해 웹 → 확장프로그램으로</a:t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명령이 전달되는 방식으로 동작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12.  봇 상태 대시보드 — 실시간 연결 상태 감지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44000"/>
            <a:ext cx="113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웹 대시보드에서 봇의 현재 상태를 실시간으로 확인하고, 비정상 상황을 즉시 감지합니다.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512000"/>
            <a:ext cx="3708000" cy="1584000"/>
          </a:xfrm>
          <a:prstGeom prst="rect">
            <a:avLst/>
          </a:prstGeom>
          <a:solidFill>
            <a:srgbClr val="05200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620000"/>
            <a:ext cx="345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맑은 고딕"/>
              </a:rPr>
              <a:t>● 감시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999" y="1962000"/>
            <a:ext cx="3456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봇이 정상 작동 중이며
지정된 규칙에 따라 감시가
진행되고 있는 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2000" y="1512000"/>
            <a:ext cx="3708000" cy="1584000"/>
          </a:xfrm>
          <a:prstGeom prst="rect">
            <a:avLst/>
          </a:prstGeom>
          <a:solidFill>
            <a:srgbClr val="1E293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8000" y="1620000"/>
            <a:ext cx="345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4A3B8"/>
                </a:solidFill>
                <a:latin typeface="맑은 고딕"/>
              </a:rPr>
              <a:t>■ 중지됨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8000" y="1962000"/>
            <a:ext cx="3456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봇이 중지된 상태
규칙은 등록되어 있으나
스캔이 실행되지 않는 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2000" y="1512000"/>
            <a:ext cx="3708000" cy="1584000"/>
          </a:xfrm>
          <a:prstGeom prst="rect">
            <a:avLst/>
          </a:prstGeom>
          <a:solidFill>
            <a:srgbClr val="1C1202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000" y="1620000"/>
            <a:ext cx="345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맑은 고딕"/>
              </a:rPr>
              <a:t>⚠ 연결 끊김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000" y="1962000"/>
            <a:ext cx="3456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마지막 응답으로부터
5분 이상 경과한 상태
비정상 종료 또는 네트워크 단절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11304000" cy="917999"/>
          </a:xfrm>
          <a:prstGeom prst="rect">
            <a:avLst/>
          </a:prstGeom>
          <a:solidFill>
            <a:srgbClr val="1E293B"/>
          </a:solidFill>
          <a:ln w="190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000" y="333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맑은 고딕"/>
              </a:rPr>
              <a:t>자동 연결 끊김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000" y="3618000"/>
            <a:ext cx="106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확장프로그램이 1분마다 상태를 갱신합니다. 마지막 갱신으로부터 5분이 경과하면 자동으로 "연결 끊김" 경고로 전환됩니다.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4230000"/>
            <a:ext cx="11304000" cy="917999"/>
          </a:xfrm>
          <a:prstGeom prst="rect">
            <a:avLst/>
          </a:prstGeom>
          <a:solidFill>
            <a:srgbClr val="1E293B"/>
          </a:solidFill>
          <a:ln w="190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000" y="43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맑은 고딕"/>
              </a:rPr>
              <a:t>페이지 로드 즉시 동기화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000" y="4608000"/>
            <a:ext cx="106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웹 대시보드를 열거나 새로고침하면, 확장프로그램이 즉시 현재 봇 상태를 동기화하여 항상 최신 정보를 표시합니다.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220000"/>
            <a:ext cx="11304000" cy="917999"/>
          </a:xfrm>
          <a:prstGeom prst="rect">
            <a:avLst/>
          </a:prstGeom>
          <a:solidFill>
            <a:srgbClr val="1E293B"/>
          </a:solidFill>
          <a:ln w="19050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000" y="531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맑은 고딕"/>
              </a:rPr>
              <a:t>감시 규칙 현황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" y="5598000"/>
            <a:ext cx="106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현재 실행 중인 규칙 목록, 각 규칙의 키워드·가격·스캔 주기, 마지막 동기화 시각을 한눈에 확인할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13.  3중 알림 시스템 — 감지 즉시 동시 발송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44000"/>
            <a:ext cx="113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물품이 감지되는 순간 3가지 경로로 동시에 알림을 보내 어떤 상황에서도 놓치지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620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맑은 고딕"/>
              </a:rPr>
              <a:t>01  화면 플래시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999" y="1925999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맑은 고딕"/>
              </a:rPr>
              <a:t>화면 전체가 붉게 깜빡이는
강렬한 시각적 경고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2502000"/>
            <a:ext cx="3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화면 전체에 붉은 오버레이 4회 깜빡임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가장 즉각적인 시각 신호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30초 후 자동으로 해제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채팅·업무 화면에서 벗어나지 않아도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바로 감지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8000" y="1620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02  탭 제목 변경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00" y="1925999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맑은 고딕"/>
              </a:rPr>
              <a:t>다른 탭 사용 중에도
인지할 수 있는 알림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000" y="2502000"/>
            <a:ext cx="3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브라우저 탭 제목이 주기적으로 교체됨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예) "🚨 [3개 감지] 리니지M 다이아"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다른 작업 중에도 눈에 띄도록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알림을 닫으면 원래 탭 제목으로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자동 복원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2000" y="1512000"/>
            <a:ext cx="3708000" cy="4788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8000" y="1620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맑은 고딕"/>
              </a:rPr>
              <a:t>03  시스템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8000" y="1925999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맑은 고딕"/>
              </a:rPr>
              <a:t>브라우저 최소화·다른 앱
사용 중에도 알림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8000" y="2502000"/>
            <a:ext cx="36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BD5E1"/>
                </a:solidFill>
                <a:latin typeface="맑은 고딕"/>
              </a:rPr>
              <a:t>• OS 수준의 브라우저 알림 팝업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브라우저를 완전히 가려도 표시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감지 건수와 규칙명 표시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처음 사용 시 알림 권한 자동 요청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  (한 번만 허용하면 계속 작동)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14.  감시 규칙 관리  +  차단(블랙리스트) 필터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5400000" cy="525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8000" y="1152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맑은 고딕"/>
              </a:rPr>
              <a:t>감시 규칙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00" y="1512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맑은 고딕"/>
              </a:rPr>
              <a:t>규칙 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1746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어떤 물품을 감시하는지 식별용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" y="2106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맑은 고딕"/>
              </a:rPr>
              <a:t>감시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" y="2340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아이템매니아 목록 페이지 주소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" y="2700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맑은 고딕"/>
              </a:rPr>
              <a:t>키워드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2934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포함되어야 할 단어 (콤마 구분, 다중 입력)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" y="3293999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맑은 고딕"/>
              </a:rPr>
              <a:t>최소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3527999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설정 금액 이상인 물품만 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000" y="3888000"/>
            <a:ext cx="19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맑은 고딕"/>
              </a:rPr>
              <a:t>스캔 페이지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" y="4122000"/>
            <a:ext cx="50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조회할 최대 페이지 수 (기본 3페이지)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644000"/>
            <a:ext cx="5400000" cy="827999"/>
          </a:xfrm>
          <a:prstGeom prst="rect">
            <a:avLst/>
          </a:prstGeom>
          <a:solidFill>
            <a:srgbClr val="0A1F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000" y="469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맑은 고딕"/>
              </a:rPr>
              <a:t>테스트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000" y="4932000"/>
            <a:ext cx="511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규칙 등록 전, 실제 페이지에서 감지 결과를 미리 확인할 수 있습니다.
조건 일치 물품 수와 예시 목록을 즉시 표시합니다.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0" y="1044000"/>
            <a:ext cx="5688000" cy="525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6000" y="1152000"/>
            <a:ext cx="52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맑은 고딕"/>
              </a:rPr>
              <a:t>차단(블랙리스트) 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6000" y="1512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8FAFC"/>
                </a:solidFill>
                <a:latin typeface="맑은 고딕"/>
              </a:rPr>
              <a:t>반복 감지되는 정상 판매글이나</a:t>
            </a:r>
          </a:p>
          <a:p>
            <a:r>
              <a:rPr sz="1200" b="0">
                <a:solidFill>
                  <a:srgbClr val="F8FAFC"/>
                </a:solidFill>
                <a:latin typeface="맑은 고딕"/>
              </a:rPr>
              <a:t>불필요한 항목을 팀 공유 제외 목록에</a:t>
            </a:r>
          </a:p>
          <a:p>
            <a:r>
              <a:rPr sz="1200" b="0">
                <a:solidFill>
                  <a:srgbClr val="F8FAFC"/>
                </a:solidFill>
                <a:latin typeface="맑은 고딕"/>
              </a:rPr>
              <a:t>등록하여 이후 알림에서 자동 제외합니다.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6000" y="2340000"/>
            <a:ext cx="54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BD5E1"/>
                </a:solidFill>
                <a:latin typeface="맑은 고딕"/>
              </a:rPr>
              <a:t>등록 방법  (3가지)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1.  감지 알림 팝업의 [필터제외] 버튼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2.  감지 로그 패널의 [필터제외] 버튼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3.  확장프로그램 오버레이의 [차단] 버튼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6000" y="3600000"/>
            <a:ext cx="54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BD5E1"/>
                </a:solidFill>
                <a:latin typeface="맑은 고딕"/>
              </a:rPr>
              <a:t>공유 방식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/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한 실무자가 차단하면 팀 전체에 즉시 반영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Firebase를 통해 모든 접속자 동기화</a:t>
            </a:r>
          </a:p>
          <a:p>
            <a:r>
              <a:rPr sz="1100" b="0">
                <a:solidFill>
                  <a:srgbClr val="CBD5E1"/>
                </a:solidFill>
                <a:latin typeface="맑은 고딕"/>
              </a:rPr>
              <a:t>• 30일 경과 시 자동 초기화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0000" y="4644000"/>
            <a:ext cx="5688000" cy="827999"/>
          </a:xfrm>
          <a:prstGeom prst="rect">
            <a:avLst/>
          </a:prstGeom>
          <a:solidFill>
            <a:srgbClr val="1C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6000" y="4698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맑은 고딕"/>
              </a:rPr>
              <a:t>감지 로그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6000" y="4932000"/>
            <a:ext cx="54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24시간 이내 모든 감지 이력을 시간대별로 확인할 수 있습니다.
차단 목록도 같은 패널에서 등록·해제 관리가 가능합니다.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9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맑은 고딕"/>
              </a:rPr>
              <a:t>15.  신규 추가 기능 종합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954000"/>
            <a:ext cx="11304000" cy="25200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7999" y="1152000"/>
            <a:ext cx="1007999" cy="216000"/>
          </a:xfrm>
          <a:prstGeom prst="rect">
            <a:avLst/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1152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맑은 고딕"/>
              </a:rPr>
              <a:t>봇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999" y="1134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Firebase 원격 제어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999" y="1494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어느 PC에서나 웹으로 봇 중지·시작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1044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6000" y="1152000"/>
            <a:ext cx="1007999" cy="216000"/>
          </a:xfrm>
          <a:prstGeom prst="rect">
            <a:avLst/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6000" y="1152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맑은 고딕"/>
              </a:rPr>
              <a:t>봇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3999" y="1134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연결 끊김 자동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6000" y="1494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5분 무응답 시 자동 경고로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106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999" y="2214000"/>
            <a:ext cx="1007999" cy="216000"/>
          </a:xfrm>
          <a:prstGeom prst="rect">
            <a:avLst/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999" y="2214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맑은 고딕"/>
              </a:rPr>
              <a:t>봇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999" y="2196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시작 시 즉시 동기화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99" y="2556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페이지 로드 직후 봇 상태 즉시 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2106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6000" y="2214000"/>
            <a:ext cx="1007999" cy="216000"/>
          </a:xfrm>
          <a:prstGeom prst="rect">
            <a:avLst/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6000" y="2214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8BDF8"/>
                </a:solidFill>
                <a:latin typeface="맑은 고딕"/>
              </a:rPr>
              <a:t>봇 제어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3999" y="2196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봇 중지 버튼 항상 활성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000" y="2556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확장 미연결 상태에서도 버튼 활성화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168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999" y="3276000"/>
            <a:ext cx="1007999" cy="216000"/>
          </a:xfrm>
          <a:prstGeom prst="rect">
            <a:avLst/>
          </a:prstGeom>
          <a:solidFill>
            <a:srgbClr val="0627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999" y="3276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  <a:latin typeface="맑은 고딕"/>
              </a:rPr>
              <a:t>권한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999" y="3258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부관리자 가입 승인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999" y="3618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기존 관리자 전용 기능을 부관리자도 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3168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6000" y="3276000"/>
            <a:ext cx="1007999" cy="216000"/>
          </a:xfrm>
          <a:prstGeom prst="rect">
            <a:avLst/>
          </a:prstGeom>
          <a:solidFill>
            <a:srgbClr val="0627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6000" y="3276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55E"/>
                </a:solidFill>
                <a:latin typeface="맑은 고딕"/>
              </a:rPr>
              <a:t>권한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3999" y="3258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멤버 목록 전체 공개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000" y="3618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역할 무관 전원 팀원 목록 열람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4230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999" y="4338000"/>
            <a:ext cx="1007999" cy="216000"/>
          </a:xfrm>
          <a:prstGeom prst="rect">
            <a:avLst/>
          </a:prstGeom>
          <a:solidFill>
            <a:srgbClr val="2F0D0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999" y="4338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F4444"/>
                </a:solidFill>
                <a:latin typeface="맑은 고딕"/>
              </a:rPr>
              <a:t>버그수정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55999" y="432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감지 알림 버그 수정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999" y="4680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모니터링 알림이 공지에 잘못 등록되는 문제 해결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0000" y="4230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26000" y="4338000"/>
            <a:ext cx="1007999" cy="216000"/>
          </a:xfrm>
          <a:prstGeom prst="rect">
            <a:avLst/>
          </a:prstGeom>
          <a:solidFill>
            <a:srgbClr val="322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6000" y="4338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맑은 고딕"/>
              </a:rPr>
              <a:t>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3999" y="432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3중 알림 시스템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000" y="4680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화면 플래시·탭 제목 변경·시스템 알림 동시 발송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5292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7999" y="5400000"/>
            <a:ext cx="1007999" cy="216000"/>
          </a:xfrm>
          <a:prstGeom prst="rect">
            <a:avLst/>
          </a:prstGeom>
          <a:solidFill>
            <a:srgbClr val="322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999" y="5400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BF24"/>
                </a:solidFill>
                <a:latin typeface="맑은 고딕"/>
              </a:rPr>
              <a:t>알림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55999" y="5382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팀 공유 차단 필터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999" y="5742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한 명이 차단하면 팀 전체에 즉시 반영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000" y="5292000"/>
            <a:ext cx="5652000" cy="97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26000" y="5400000"/>
            <a:ext cx="1007999" cy="216000"/>
          </a:xfrm>
          <a:prstGeom prst="rect">
            <a:avLst/>
          </a:prstGeom>
          <a:solidFill>
            <a:srgbClr val="1D2024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6000" y="5400000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  <a:latin typeface="맑은 고딕"/>
              </a:rPr>
              <a:t>기록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3999" y="5382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맑은 고딕"/>
              </a:rPr>
              <a:t>24시간 감지 로그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26000" y="5742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시간대별 그룹화 + 차단 목록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781</Words>
  <Application>Microsoft Office PowerPoint</Application>
  <PresentationFormat>와이드스크린</PresentationFormat>
  <Paragraphs>88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Poppins</vt:lpstr>
      <vt:lpstr>Poppins ExtraBold</vt:lpstr>
      <vt:lpstr>Poppins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baekhwisub</cp:lastModifiedBy>
  <cp:revision>6</cp:revision>
  <dcterms:modified xsi:type="dcterms:W3CDTF">2026-04-28T07:21:00Z</dcterms:modified>
</cp:coreProperties>
</file>