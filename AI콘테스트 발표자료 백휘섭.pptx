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52525" y="1637407"/>
            <a:ext cx="10458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IMI PRO 26.04 v.1.0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52525" y="2098327"/>
            <a:ext cx="1098137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실무의 정확성을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기술로 완성하다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152525" y="4536727"/>
            <a:ext cx="5715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단순 검색을 넘어, 완벽한 해답을 제시하는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지능형 상담 어시스턴트 시스템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2525" y="865882"/>
            <a:ext cx="1676400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74527"/>
            <a:ext cx="3486150" cy="348987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01. 프로젝트 배경 및 필요성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76300" y="3565177"/>
            <a:ext cx="232600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상담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리스크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방지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876300" y="4279552"/>
            <a:ext cx="25242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방대한 매뉴얼 속 오안내로 인한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기업 신뢰도 하락 및 치명적인 사고를 사전에 완벽하게 차단합니다.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82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48200" y="3565177"/>
            <a:ext cx="259597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업무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생산성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극대화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4648200" y="4279552"/>
            <a:ext cx="23145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수동 검색의 한계를 뛰어넘어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필요한 정보를 즉시 찾아내는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지능형 검색 시스템을 구현합니다.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0100" y="25650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420100" y="3565177"/>
            <a:ext cx="23662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품질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상향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평준화</a:t>
            </a:r>
            <a:endParaRPr dirty="0"/>
          </a:p>
        </p:txBody>
      </p:sp>
      <p:sp>
        <p:nvSpPr>
          <p:cNvPr id="106" name="Google Shape;106;p14"/>
          <p:cNvSpPr txBox="1"/>
          <p:nvPr/>
        </p:nvSpPr>
        <p:spPr>
          <a:xfrm>
            <a:off x="8420100" y="4279552"/>
            <a:ext cx="2476500" cy="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상담사 개인의 숙련도에 무관하게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항상 일관된 고품질 답변을 제공하는 표준화 업무 환경을 조성합니다.</a:t>
            </a:r>
            <a:endParaRPr/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800" y="275555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62512" y="275555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10600" y="275555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859" y="1562100"/>
            <a:ext cx="4552950" cy="481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58025" y="1562100"/>
            <a:ext cx="4552950" cy="4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81025" y="581025"/>
            <a:ext cx="1158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02. 혁신적 패러다임 전환 (AS-IS vs TO-BE)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1981200"/>
            <a:ext cx="134302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71550" y="2409825"/>
            <a:ext cx="396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CA5A5"/>
                </a:solidFill>
                <a:latin typeface="Poppins"/>
                <a:ea typeface="Poppins"/>
                <a:cs typeface="Poppins"/>
                <a:sym typeface="Poppins"/>
              </a:rPr>
              <a:t>수동 검색의 한계와 리스크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3781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48550" y="1981200"/>
            <a:ext cx="17145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7448550" y="2409825"/>
            <a:ext cx="396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EE7B7"/>
                </a:solidFill>
                <a:latin typeface="Poppins"/>
                <a:ea typeface="Poppins"/>
                <a:cs typeface="Poppins"/>
                <a:sym typeface="Poppins"/>
              </a:rPr>
              <a:t>지능형 시스템을 통한 해결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376039" y="3095625"/>
            <a:ext cx="33674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단순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키워드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매칭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으로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안내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dirty="0" err="1">
                <a:solidFill>
                  <a:srgbClr val="CBD5E1"/>
                </a:solidFill>
              </a:rPr>
              <a:t>지연</a:t>
            </a:r>
            <a:endParaRPr dirty="0"/>
          </a:p>
        </p:txBody>
      </p:sp>
      <p:sp>
        <p:nvSpPr>
          <p:cNvPr id="124" name="Google Shape;124;p15"/>
          <p:cNvSpPr txBox="1"/>
          <p:nvPr/>
        </p:nvSpPr>
        <p:spPr>
          <a:xfrm>
            <a:off x="1376039" y="3590925"/>
            <a:ext cx="3367411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모드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구분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개념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부재로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인한</a:t>
            </a:r>
            <a:r>
              <a:rPr lang="en-US" sz="1500" b="0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매니아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베이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별도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운영의</a:t>
            </a:r>
            <a:r>
              <a:rPr lang="en-US" sz="1500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한계</a:t>
            </a:r>
            <a:endParaRPr sz="1500" b="0" dirty="0">
              <a:solidFill>
                <a:srgbClr val="CBD5E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376039" y="4391025"/>
            <a:ext cx="35561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저하를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유발하는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고정된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UI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endParaRPr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1376039" y="4886325"/>
            <a:ext cx="33674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확인을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위한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잦은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화면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전환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반복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7936637" y="3095625"/>
            <a:ext cx="3472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팩트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매뉴얼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정밀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매핑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endParaRPr dirty="0"/>
          </a:p>
        </p:txBody>
      </p:sp>
      <p:sp>
        <p:nvSpPr>
          <p:cNvPr id="128" name="Google Shape;128;p15"/>
          <p:cNvSpPr txBox="1"/>
          <p:nvPr/>
        </p:nvSpPr>
        <p:spPr>
          <a:xfrm>
            <a:off x="7936637" y="35909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색상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기반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듀얼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모드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완벽한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플랫폼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분리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7936637" y="43910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컨디션에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맞춘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멀티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테마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(Dark/Green/White)</a:t>
            </a:r>
            <a:endParaRPr dirty="0"/>
          </a:p>
        </p:txBody>
      </p:sp>
      <p:sp>
        <p:nvSpPr>
          <p:cNvPr id="130" name="Google Shape;130;p15"/>
          <p:cNvSpPr txBox="1"/>
          <p:nvPr/>
        </p:nvSpPr>
        <p:spPr>
          <a:xfrm>
            <a:off x="7936637" y="5191125"/>
            <a:ext cx="32838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지능형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시간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관리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교육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이력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통합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대시보드</a:t>
            </a:r>
            <a:endParaRPr dirty="0"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316702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35909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0613" y="445381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6254" y="4932384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62711" y="31553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3391" y="365459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3391" y="445317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74685" y="526256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03. 기능 상세: 정확한 팩트 기반 검색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1562100"/>
            <a:ext cx="5490686" cy="1188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단 </a:t>
            </a:r>
            <a:r>
              <a:rPr lang="en-US" sz="36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2초</a:t>
            </a: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만에 도달하는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가장 완벽한 정답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962025" y="3131641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정밀 타겟팅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질문의 의도를 정확히 파악하여 수천 페이지의 규정 중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가장 알맞은 위치를 실시간으로 찾아냅니다.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962025" y="4427041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핵심 문장 자동 강조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방대한 텍스트 속에서 반드시 읽어야 할 필수 문구만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하이라이트 처리하여 상담사의 인지 속도를 극대화합니다.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67762" y="33147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14116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43656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3175" y="1562100"/>
            <a:ext cx="4597683" cy="2113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800" y="2919412"/>
            <a:ext cx="4548782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581025" y="581025"/>
            <a:ext cx="5190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04. 기능 상세: 압도적 시인성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81025" y="1892200"/>
            <a:ext cx="5190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막힘없는 판독 환경,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스마트 뷰어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248575" y="3238500"/>
            <a:ext cx="5523050" cy="2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스마트</a:t>
            </a:r>
            <a:r>
              <a:rPr lang="en-US" sz="1526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모달</a:t>
            </a:r>
            <a:r>
              <a:rPr lang="en-US" sz="1526" b="1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줌 </a:t>
            </a:r>
            <a:r>
              <a:rPr lang="en-US" sz="1526" b="1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시스템</a:t>
            </a:r>
            <a:endParaRPr sz="1526" b="1" dirty="0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81025" y="3571875"/>
            <a:ext cx="4943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모달 팝업 내 상단 컨트롤러를 통해 미세한 텍스트 픽셀까지 자유롭게 확대/축소하여 눈의 피로를 최소화합니다.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248575" y="5334000"/>
            <a:ext cx="5523050" cy="2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26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지능형 페이지 네이션</a:t>
            </a:r>
            <a:endParaRPr sz="1526" b="1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581025" y="5667375"/>
            <a:ext cx="4943400" cy="41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여러 페이지로 구성된 매뉴얼도 끊김이나 지연 없이, 전체 규정을 마치 한 권의 책처럼 신속하게 열람할 수 있습니다.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2450" y="747625"/>
            <a:ext cx="4943401" cy="2681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48575" y="4286250"/>
            <a:ext cx="552305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333375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다중 멀티뷰 시스템</a:t>
            </a:r>
            <a:endParaRPr sz="1650" b="1">
              <a:solidFill>
                <a:srgbClr val="F8FAF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81025" y="4619625"/>
            <a:ext cx="4943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여러 개의 매뉴얼을 동시에 활성화하여 비교 분석이 가능하며, 복잡한 업무 프로세스도 한눈에 파악할 수 있습니다.</a:t>
            </a:r>
            <a:endParaRPr sz="1350" b="0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2450" y="3571875"/>
            <a:ext cx="4943401" cy="27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77554"/>
            <a:ext cx="5229225" cy="3684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77554"/>
            <a:ext cx="5229225" cy="3684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05. 기능 상세: 착오 방지를 위한 듀얼 모드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305276" y="1577429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실수를 </a:t>
            </a:r>
            <a:r>
              <a:rPr lang="en-US" sz="2700" b="0" i="0" u="none" strike="noStrike" cap="none">
                <a:solidFill>
                  <a:srgbClr val="F8FAFC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디자인으로 원천 차단</a:t>
            </a:r>
            <a:r>
              <a:rPr lang="en-US" sz="270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하다</a:t>
            </a:r>
            <a:endParaRPr/>
          </a:p>
        </p:txBody>
      </p:sp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1075" y="2977604"/>
            <a:ext cx="14382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981075" y="3596729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명확한 한색 계열의 </a:t>
            </a:r>
            <a:r>
              <a:rPr lang="en-US" sz="1350" b="1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Blue 테마</a:t>
            </a: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를 적용하여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현재 응대 중인 플랫폼이 '매니아' 채널임을 직관적으로 인지시킵니다.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81800" y="2977604"/>
            <a:ext cx="1219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781800" y="3596729"/>
            <a:ext cx="442912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강렬한 난색 계열의 </a:t>
            </a:r>
            <a:r>
              <a:rPr lang="en-US" sz="1350" b="1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Red 테마</a:t>
            </a: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를 적용하여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 플랫폼간 업무 착오 및 치명적인 오안내 가능성을 디자인적으로 차단합니다.</a:t>
            </a:r>
            <a:endParaRPr/>
          </a:p>
        </p:txBody>
      </p:sp>
      <p:pic>
        <p:nvPicPr>
          <p:cNvPr id="184" name="Google Shape;18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71787" y="480060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981075" y="5514975"/>
            <a:ext cx="44291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탭 전환 시 실시간 테마 컬러 변경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72512" y="4800600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/>
          <p:cNvSpPr txBox="1"/>
          <p:nvPr/>
        </p:nvSpPr>
        <p:spPr>
          <a:xfrm>
            <a:off x="6781800" y="5514975"/>
            <a:ext cx="44291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시각적 모드 동기화 시스템 작동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06. 기능 상세: 상담 템플릿 자동화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81025" y="1562100"/>
            <a:ext cx="549068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상담의 품질을 결정하는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절대적 가독성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962025" y="29337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실시간 가독성 구조화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단락 구분과 강조 기호가 자동 적용된 정제된 답변으로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고객에게 브랜드의 전문성을 각인시킵니다.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962025" y="42291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원클릭 복사 및 실시간 알림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'복사됨' 알림 시각화로 상담사에게 작업 확신을 주며,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휴먼 에러(오타)가 배제된 100% 표준 응대를 보장합니다.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2481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43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1225" y="2037400"/>
            <a:ext cx="5798715" cy="278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562100"/>
            <a:ext cx="11029950" cy="655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529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4825" y="2598390"/>
            <a:ext cx="3486150" cy="37641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07. 기능 상세: 통합 아카이브 및 스마트 도구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09625" y="1752600"/>
            <a:ext cx="106108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[긴급] 전사 시스템 점검 — 금일 14시부터 서비스 일시 중단 예정. 매뉴얼 숙지 바랍니다.</a:t>
            </a:r>
            <a:endParaRPr/>
          </a:p>
        </p:txBody>
      </p:sp>
      <p:pic>
        <p:nvPicPr>
          <p:cNvPr id="211" name="Google Shape;211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625" y="184461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3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053297" y="3999250"/>
            <a:ext cx="254160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en-US" sz="2100" b="1" i="0" u="none" strike="noStrike" cap="none" dirty="0" smtClean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년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+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통합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아카이브</a:t>
            </a:r>
            <a:endParaRPr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791407" y="4703415"/>
            <a:ext cx="306538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2019년부터 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2026년까지의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공지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dirty="0" smtClean="0">
                <a:solidFill>
                  <a:srgbClr val="94A3B8"/>
                </a:solidFill>
              </a:rPr>
              <a:t>3,00</a:t>
            </a: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0건 </a:t>
            </a:r>
            <a:r>
              <a:rPr lang="ko-KR" alt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이상</a:t>
            </a:r>
            <a:r>
              <a:rPr lang="en-US" sz="1350" b="0" i="0" u="none" strike="noStrike" cap="none" dirty="0" smtClean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을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DB화하여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키워드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하나로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고속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검색을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지원합니다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82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4855715" y="3979857"/>
            <a:ext cx="2480569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스마트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플로팅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메모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4406052" y="4703415"/>
            <a:ext cx="341799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위치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및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크기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조절이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가능한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메모장으로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실시간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자동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저장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시스템을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통해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개인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업무를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즉시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기록하고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보존합니다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18" name="Google Shape;21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0100" y="298891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8485018" y="3979857"/>
            <a:ext cx="2765764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실시간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긴급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공지</a:t>
            </a:r>
            <a:r>
              <a:rPr lang="en-US" sz="21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00" b="1" i="0" u="none" strike="noStrike" cap="none" dirty="0" err="1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티커</a:t>
            </a:r>
            <a:endParaRPr dirty="0"/>
          </a:p>
        </p:txBody>
      </p:sp>
      <p:sp>
        <p:nvSpPr>
          <p:cNvPr id="220" name="Google Shape;220;p20"/>
          <p:cNvSpPr txBox="1"/>
          <p:nvPr/>
        </p:nvSpPr>
        <p:spPr>
          <a:xfrm>
            <a:off x="8420099" y="4703415"/>
            <a:ext cx="300037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긴급한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이슈를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상단에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흐르는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자막으로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지속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노출하여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상담사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간의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전파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지연을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제로화합니다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pic>
        <p:nvPicPr>
          <p:cNvPr id="221" name="Google Shape;221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66800" y="317941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862512" y="317941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600" y="317941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08. 기능 상세: 지능형 시간 관리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81025" y="1562100"/>
            <a:ext cx="5490686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업무와 교육의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지능적 통합 관리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62025" y="29337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교육 이력 실시간 연동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스케줄 시스템을 통한 효율적인 업무 분배.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관리자는 지난 업무 환경을 확인하여 최적의 운영이 가능합니다.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62025" y="4229100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실무 수행 내역 셀 기록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시간대별 처리 업무와 이수 교육 이력을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달력 셀에 메모로 직접 첨부하여 개인 생산성을 데이터화합니다.</a:t>
            </a:r>
            <a:endParaRPr/>
          </a:p>
        </p:txBody>
      </p:sp>
      <p:pic>
        <p:nvPicPr>
          <p:cNvPr id="233" name="Google Shape;23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9432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2386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1225" y="1890943"/>
            <a:ext cx="5620767" cy="298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03152"/>
            <a:ext cx="34861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09. 기능 상세: 실무자 맞춤형 멀티 테마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3235642" y="1888777"/>
            <a:ext cx="572071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주변 조도와 개인 컨디션에 맞춰 선택하는 </a:t>
            </a:r>
            <a:r>
              <a:rPr lang="en-US" sz="18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3가지 시각 보호 UI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938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WHITE MODE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5810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밝은 환경에 최적화된 명료함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2657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GREEN MODE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43529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안구 피로도를 획기적으로 저감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037671" y="5174902"/>
            <a:ext cx="3660457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DARK MODE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8124825" y="5603527"/>
            <a:ext cx="34861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야간 및 집중력 향상을 위한 UI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43600" y="340325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419725" y="4031902"/>
            <a:ext cx="13525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[ Green Theme 이미지 ]</a:t>
            </a:r>
            <a:endParaRPr/>
          </a:p>
        </p:txBody>
      </p:sp>
      <p:pic>
        <p:nvPicPr>
          <p:cNvPr id="252" name="Google Shape;25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1025" y="2622200"/>
            <a:ext cx="3448049" cy="2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2450" y="2622200"/>
            <a:ext cx="3486151" cy="227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181975" y="2622200"/>
            <a:ext cx="3448049" cy="227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15942" y="1880294"/>
            <a:ext cx="5495032" cy="4078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685157"/>
            <a:ext cx="4582417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01717" y="3790950"/>
            <a:ext cx="4523482" cy="152950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3"/>
          <p:cNvSpPr txBox="1"/>
          <p:nvPr/>
        </p:nvSpPr>
        <p:spPr>
          <a:xfrm>
            <a:off x="581025" y="58102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10. 기술 스택 및 압도적 비용 효율성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581025" y="2319486"/>
            <a:ext cx="4582417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개발 운영비 절감율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581025" y="4304407"/>
            <a:ext cx="4582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유지비 </a:t>
            </a:r>
            <a:r>
              <a:rPr lang="en-US" sz="2400" b="1">
                <a:solidFill>
                  <a:srgbClr val="F8FAFC"/>
                </a:solidFill>
              </a:rPr>
              <a:t>최소화</a:t>
            </a:r>
            <a:r>
              <a:rPr lang="en-US" sz="2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, 관리 효율 10배 상승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601717" y="2366069"/>
            <a:ext cx="474965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Serverless Architecture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6601717" y="2956619"/>
            <a:ext cx="4523482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기존 On-Premise 구축 방식의 무거운 초기 도입 비용과 유지 비용을 혁신적으로 탈피했습니다.</a:t>
            </a:r>
            <a:endParaRPr/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1717" y="2423219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6601717" y="4314825"/>
            <a:ext cx="4523482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Firebase × Claude API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01717" y="4832895"/>
            <a:ext cx="4523482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하드웨어 유지비 없이, 완벽한 실시간 보안 관리 및 최고 수준의 AI 언어 모델을 결합하여 무한한 확장성을 제공합니다.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581025" y="5047357"/>
            <a:ext cx="1085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상담 품질 일관성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313125" y="5245452"/>
            <a:ext cx="10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952625" y="5047357"/>
            <a:ext cx="1085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오안내 사고율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716875" y="5245452"/>
            <a:ext cx="10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9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/>
          </a:p>
        </p:txBody>
      </p:sp>
      <p:pic>
        <p:nvPicPr>
          <p:cNvPr id="275" name="Google Shape;275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23975" y="533682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695575" y="5336827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25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077592"/>
            <a:ext cx="11029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3365658" y="962025"/>
            <a:ext cx="54606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미래를 향한 확장, </a:t>
            </a:r>
            <a:endParaRPr sz="3600" b="1" i="0" u="none" strike="noStrike" cap="none">
              <a:solidFill>
                <a:srgbClr val="F8FAFC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향후 로드맵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4014750" y="2168475"/>
            <a:ext cx="416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실무의 한계를 넘는 혁신, IMI PRO의 진화는 계속됩니다.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067100" y="6052934"/>
            <a:ext cx="40576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AI CONTEST 2026</a:t>
            </a:r>
            <a:endParaRPr dirty="0"/>
          </a:p>
        </p:txBody>
      </p:sp>
      <p:sp>
        <p:nvSpPr>
          <p:cNvPr id="286" name="Google Shape;286;p24"/>
          <p:cNvSpPr txBox="1"/>
          <p:nvPr/>
        </p:nvSpPr>
        <p:spPr>
          <a:xfrm>
            <a:off x="1456283" y="2867025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01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1456283" y="3198000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멀티모달 이미지 분석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1456283" y="3514875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스크린샷 자동 원인 판독 및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즉각적인 해결 가이드 제시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765327" y="4291463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02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722452" y="4668263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실시간 콜 평가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722452" y="4998850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평가표 기반 자동 코칭 시스템 도입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및 전체 상담 데이터화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8074372" y="2867025"/>
            <a:ext cx="31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STEP 03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074372" y="3198000"/>
            <a:ext cx="3134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기본 문의 자동 상담 (AI)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8074372" y="3514875"/>
            <a:ext cx="29850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일반 문의에 대</a:t>
            </a:r>
            <a:r>
              <a:rPr lang="en-US" sz="1200">
                <a:solidFill>
                  <a:srgbClr val="94A3B8"/>
                </a:solidFill>
              </a:rPr>
              <a:t>해</a:t>
            </a: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00">
                <a:solidFill>
                  <a:srgbClr val="94A3B8"/>
                </a:solidFill>
              </a:rPr>
              <a:t>전화연결없이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선제적 해결 방안 제시 및 휴먼 리소스 최적화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2672581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981625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9290670" y="398234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781</Words>
  <Application>Microsoft Office PowerPoint</Application>
  <PresentationFormat>와이드스크린</PresentationFormat>
  <Paragraphs>88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Poppins</vt:lpstr>
      <vt:lpstr>Poppins ExtraBold</vt:lpstr>
      <vt:lpstr>Poppins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baekhwisub</cp:lastModifiedBy>
  <cp:revision>6</cp:revision>
  <dcterms:modified xsi:type="dcterms:W3CDTF">2026-04-28T07:21:00Z</dcterms:modified>
</cp:coreProperties>
</file>