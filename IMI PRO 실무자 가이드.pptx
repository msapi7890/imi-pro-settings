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81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09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69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0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06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83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89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6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11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92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49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9F020-F17A-4C72-8693-FA4A6E83900B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F255D-6AF6-4DB8-9704-80F2633FEA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31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sapi7890.github.io/IMI-PRO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6223000"/>
            <a:ext cx="12192000" cy="6350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736600" y="2667000"/>
            <a:ext cx="76200" cy="1651000"/>
          </a:xfrm>
          <a:prstGeom prst="rect">
            <a:avLst/>
          </a:prstGeom>
          <a:solidFill>
            <a:srgbClr val="38B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16000" y="24765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58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IMI PRO</a:t>
            </a:r>
            <a:endParaRPr lang="ko-KR" altLang="en-US" sz="58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6000" y="34290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2800" smtClean="0">
                <a:solidFill>
                  <a:srgbClr val="FFFFFF"/>
                </a:solidFill>
                <a:latin typeface="맑은 고딕" panose="020B0503020000020004" pitchFamily="50" charset="-127"/>
              </a:rPr>
              <a:t>실무자 사용 가이드</a:t>
            </a:r>
            <a:endParaRPr lang="ko-KR" altLang="en-US" sz="28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6000" y="42545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300" smtClean="0">
                <a:solidFill>
                  <a:srgbClr val="475569"/>
                </a:solidFill>
                <a:latin typeface="맑은 고딕" panose="020B0503020000020004" pitchFamily="50" charset="-127"/>
              </a:rPr>
              <a:t>아이템매니아 사기글 모니터링  </a:t>
            </a:r>
            <a:r>
              <a:rPr lang="en-US" altLang="ko-KR" sz="1300" smtClean="0">
                <a:solidFill>
                  <a:srgbClr val="475569"/>
                </a:solidFill>
                <a:latin typeface="맑은 고딕" panose="020B0503020000020004" pitchFamily="50" charset="-127"/>
              </a:rPr>
              <a:t>/  AI </a:t>
            </a:r>
            <a:r>
              <a:rPr lang="ko-KR" altLang="en-US" sz="1300" smtClean="0">
                <a:solidFill>
                  <a:srgbClr val="475569"/>
                </a:solidFill>
                <a:latin typeface="맑은 고딕" panose="020B0503020000020004" pitchFamily="50" charset="-127"/>
              </a:rPr>
              <a:t>채팅  </a:t>
            </a:r>
            <a:r>
              <a:rPr lang="en-US" altLang="ko-KR" sz="1300" smtClean="0">
                <a:solidFill>
                  <a:srgbClr val="475569"/>
                </a:solidFill>
                <a:latin typeface="맑은 고딕" panose="020B0503020000020004" pitchFamily="50" charset="-127"/>
              </a:rPr>
              <a:t>/  </a:t>
            </a:r>
            <a:r>
              <a:rPr lang="ko-KR" altLang="en-US" sz="1300" smtClean="0">
                <a:solidFill>
                  <a:srgbClr val="475569"/>
                </a:solidFill>
                <a:latin typeface="맑은 고딕" panose="020B0503020000020004" pitchFamily="50" charset="-127"/>
              </a:rPr>
              <a:t>공지사항 통합 시스템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6000" y="63754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000" dirty="0" smtClean="0">
                <a:solidFill>
                  <a:srgbClr val="334155"/>
                </a:solidFill>
                <a:latin typeface="맑은 고딕" panose="020B0503020000020004" pitchFamily="50" charset="-127"/>
              </a:rPr>
              <a:t>IMI PRO  |  2026.05</a:t>
            </a:r>
            <a:endParaRPr lang="ko-KR" altLang="en-US" sz="1000" dirty="0">
              <a:solidFill>
                <a:srgbClr val="334155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473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IMI PRO </a:t>
            </a:r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소개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825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브라우저 </a:t>
            </a:r>
            <a:r>
              <a:rPr lang="ko-KR" altLang="en-US" sz="1200" dirty="0" err="1" smtClean="0">
                <a:solidFill>
                  <a:srgbClr val="94A3B8"/>
                </a:solidFill>
                <a:latin typeface="맑은 고딕" panose="020B0503020000020004" pitchFamily="50" charset="-127"/>
              </a:rPr>
              <a:t>주소창에</a:t>
            </a:r>
            <a:r>
              <a:rPr lang="ko-KR" altLang="en-US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94A3B8"/>
                </a:solidFill>
                <a:latin typeface="맑은 고딕" panose="020B0503020000020004" pitchFamily="50" charset="-127"/>
                <a:hlinkClick r:id="rId2"/>
              </a:rPr>
              <a:t>https://msapi7890.github.io/IMI-PRO</a:t>
            </a:r>
            <a:r>
              <a:rPr lang="en-US" altLang="ko-KR" sz="1200" dirty="0" smtClean="0">
                <a:solidFill>
                  <a:srgbClr val="94A3B8"/>
                </a:solidFill>
                <a:latin typeface="맑은 고딕" panose="020B0503020000020004" pitchFamily="50" charset="-127"/>
                <a:hlinkClick r:id="rId2"/>
              </a:rPr>
              <a:t>/</a:t>
            </a:r>
            <a:r>
              <a:rPr lang="en-US" altLang="ko-KR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만 </a:t>
            </a:r>
            <a:r>
              <a:rPr lang="ko-KR" altLang="en-US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입력하면 바로 사용할 수 있는 온라인 업무 플랫폼입니다</a:t>
            </a:r>
            <a:r>
              <a:rPr lang="en-US" altLang="ko-KR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5000" y="1371600"/>
            <a:ext cx="3403600" cy="2222500"/>
          </a:xfrm>
          <a:prstGeom prst="rect">
            <a:avLst/>
          </a:prstGeom>
          <a:solidFill>
            <a:srgbClr val="253550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1498600"/>
            <a:ext cx="3149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2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22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채팅</a:t>
            </a:r>
            <a:endParaRPr lang="ko-KR" altLang="en-US" sz="22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2006600"/>
            <a:ext cx="3149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아이템매니아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베이글 업무 질문에 즉시 답변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318000" y="1371600"/>
            <a:ext cx="3403600" cy="2222500"/>
          </a:xfrm>
          <a:prstGeom prst="rect">
            <a:avLst/>
          </a:prstGeom>
          <a:solidFill>
            <a:srgbClr val="253550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445000" y="1498600"/>
            <a:ext cx="3149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22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사기글 모니터링</a:t>
            </a:r>
            <a:endParaRPr lang="ko-KR" altLang="en-US" sz="22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45000" y="2006600"/>
            <a:ext cx="3149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의심 물품 실시간 감지 및 팀 알림 발송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001000" y="1371600"/>
            <a:ext cx="3403600" cy="2222500"/>
          </a:xfrm>
          <a:prstGeom prst="rect">
            <a:avLst/>
          </a:prstGeom>
          <a:solidFill>
            <a:srgbClr val="253550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128000" y="1498600"/>
            <a:ext cx="3149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22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공지 </a:t>
            </a:r>
            <a:r>
              <a:rPr lang="en-US" altLang="ko-KR" sz="22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22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알림</a:t>
            </a:r>
            <a:endParaRPr lang="ko-KR" altLang="en-US" sz="22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28000" y="2006600"/>
            <a:ext cx="3149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공지사항 확인 및 긴급 알림 수신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35000" y="3810000"/>
            <a:ext cx="109220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35000" y="4000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접속 방법</a:t>
            </a:r>
            <a:endParaRPr lang="ko-KR" altLang="en-US" sz="15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000" y="4381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① 브라우저</a:t>
            </a:r>
            <a:r>
              <a:rPr lang="en-US" altLang="ko-KR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크롬</a:t>
            </a:r>
            <a:r>
              <a:rPr lang="en-US" altLang="ko-KR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dirty="0" err="1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엣지</a:t>
            </a:r>
            <a:r>
              <a:rPr lang="ko-KR" altLang="en-US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모두 가능</a:t>
            </a:r>
            <a:r>
              <a:rPr lang="en-US" altLang="ko-KR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200" dirty="0" err="1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주소창에</a:t>
            </a:r>
            <a:r>
              <a:rPr lang="ko-KR" altLang="en-US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chemeClr val="accent1"/>
                </a:solidFill>
                <a:latin typeface="맑은 고딕" panose="020B0503020000020004" pitchFamily="50" charset="-127"/>
                <a:hlinkClick r:id="rId2"/>
              </a:rPr>
              <a:t>https://msapi7890.github.io/IMI-PRO</a:t>
            </a:r>
            <a:r>
              <a:rPr lang="en-US" altLang="ko-KR" sz="1200" dirty="0" smtClean="0">
                <a:solidFill>
                  <a:schemeClr val="accent1"/>
                </a:solidFill>
                <a:latin typeface="맑은 고딕" panose="020B0503020000020004" pitchFamily="50" charset="-127"/>
                <a:hlinkClick r:id="rId2"/>
              </a:rPr>
              <a:t>/</a:t>
            </a:r>
            <a:r>
              <a:rPr lang="en-US" altLang="ko-KR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입력   </a:t>
            </a:r>
            <a:r>
              <a:rPr lang="ko-KR" altLang="en-US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② </a:t>
            </a:r>
            <a:r>
              <a:rPr lang="ko-KR" altLang="en-US" sz="1200" dirty="0" err="1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즐겨찾기</a:t>
            </a:r>
            <a:r>
              <a:rPr lang="ko-KR" altLang="en-US" sz="1200" dirty="0" smtClean="0">
                <a:solidFill>
                  <a:schemeClr val="accent1"/>
                </a:solidFill>
                <a:latin typeface="맑은 고딕" panose="020B0503020000020004" pitchFamily="50" charset="-127"/>
              </a:rPr>
              <a:t> 등록 권장   ③ 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알림 허용 팝업 → </a:t>
            </a:r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허용</a:t>
            </a:r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클릭</a:t>
            </a:r>
            <a:endParaRPr lang="ko-KR" altLang="en-US" sz="120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35000" y="4889500"/>
            <a:ext cx="10922000" cy="609600"/>
          </a:xfrm>
          <a:prstGeom prst="rect">
            <a:avLst/>
          </a:prstGeom>
          <a:solidFill>
            <a:srgbClr val="1C2E4A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35000" y="5054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별도 프로그램 설치 없음   </a:t>
            </a:r>
            <a:r>
              <a:rPr lang="en-US" altLang="ko-KR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|   </a:t>
            </a:r>
            <a:r>
              <a:rPr lang="ko-KR" altLang="en-US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브라우저 종류 무관   </a:t>
            </a:r>
            <a:r>
              <a:rPr lang="en-US" altLang="ko-KR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|   </a:t>
            </a:r>
            <a:r>
              <a:rPr lang="ko-KR" altLang="en-US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어디서든 접속 가능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35000" y="5651500"/>
            <a:ext cx="10922000" cy="609600"/>
          </a:xfrm>
          <a:prstGeom prst="rect">
            <a:avLst/>
          </a:prstGeom>
          <a:solidFill>
            <a:srgbClr val="1C1A1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635000" y="5816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확장 프로그램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봇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은 관리자 메인 컴퓨터에서만 필요합니다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실무자는 설치 불필요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84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채팅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825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Claude AI</a:t>
            </a:r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가 아이템매니아 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베이글 업무 관련 질문에 즉시 답변합니다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5000" y="1333500"/>
            <a:ext cx="5461000" cy="4953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3600" y="1498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사용 방법</a:t>
            </a:r>
            <a:endParaRPr lang="ko-KR" altLang="en-US" sz="14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1930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① 헤더 모드 버튼 선택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600" y="22098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  아이템매니아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파란색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또는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베이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분홍색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선택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[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매뉴얼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템플릿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분리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26162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② 하단 입력창에 질문 입력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2895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  예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현금영수증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휴대폰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신용카드 등 업무에 필요한 내용 입력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3600" y="38608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③ 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Enter 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또는 전송 버튼 클릭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3600" y="42672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④ 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답변 확인 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마크다운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표 형식 지원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3600" y="4546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  파일 첨부 가능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: PDF,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이미지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350000" y="1333500"/>
            <a:ext cx="5270500" cy="2349500"/>
          </a:xfrm>
          <a:prstGeom prst="rect">
            <a:avLst/>
          </a:prstGeom>
          <a:solidFill>
            <a:srgbClr val="1C2E4A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578600" y="149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알아두세요</a:t>
            </a:r>
            <a:endParaRPr lang="ko-KR" altLang="en-US" sz="13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78600" y="2209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미등록 시 관리자에게 문의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78600" y="24892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채팅 내용은 </a:t>
            </a:r>
            <a:r>
              <a:rPr lang="ko-KR" altLang="en-US" sz="1100" dirty="0" err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새로고침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시 </a:t>
            </a:r>
            <a:r>
              <a:rPr lang="ko-KR" altLang="en-US" sz="1100" dirty="0" err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초기화됨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78600" y="276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PDF /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이미지 파일 첨부 가능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50000" y="3873500"/>
            <a:ext cx="5270500" cy="2413000"/>
          </a:xfrm>
          <a:prstGeom prst="rect">
            <a:avLst/>
          </a:prstGeom>
          <a:solidFill>
            <a:srgbClr val="142A1A"/>
          </a:solidFill>
          <a:ln w="19050">
            <a:solidFill>
              <a:srgbClr val="22C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578600" y="403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활용 예시</a:t>
            </a:r>
            <a:endParaRPr lang="ko-KR" altLang="en-US" sz="1300" b="1">
              <a:solidFill>
                <a:srgbClr val="22C55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78600" y="4470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기존 업무상 변경된 매뉴얼 관련 검색 즉시 답변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78600" y="4749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거래 방법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절차 안내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78600" y="50292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판매자 사기 의심 물품 판단 보조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78600" y="530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규정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제재 기준 확인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78600" y="55880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고객 응대 문구 작성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7250" y="3288268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  </a:t>
            </a:r>
            <a:r>
              <a:rPr lang="en-US" altLang="ko-KR" sz="1100" dirty="0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1100" dirty="0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현재 네트워크 보안 문제로 매뉴얼 작동 시 이미지 파일 불러오기 </a:t>
            </a:r>
            <a:endParaRPr lang="en-US" altLang="ko-KR" sz="1100" dirty="0" smtClean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1100" dirty="0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불가 매뉴얼 사용은 불가 상태이니 참고 부탁드립니다</a:t>
            </a:r>
            <a:r>
              <a:rPr lang="en-US" altLang="ko-KR" sz="1100" dirty="0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. (</a:t>
            </a:r>
            <a:r>
              <a:rPr lang="ko-KR" altLang="en-US" sz="1100" dirty="0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템플릿은 이용가능</a:t>
            </a:r>
            <a:r>
              <a:rPr lang="en-US" altLang="ko-KR" sz="1100" dirty="0" smtClea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</a:rPr>
              <a:t>.)</a:t>
            </a:r>
            <a:endParaRPr lang="ko-KR" altLang="en-US" sz="1100" dirty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5868" y="5195332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100" dirty="0" smtClean="0">
                <a:solidFill>
                  <a:schemeClr val="accent6"/>
                </a:solidFill>
                <a:latin typeface="맑은 고딕" panose="020B0503020000020004" pitchFamily="50" charset="-127"/>
              </a:rPr>
              <a:t>추 후 업데이트 이미지 확인가능 상태에서 원하는 키워드로 해당 매뉴얼 내용이 불러와 지지않는다면 해당 매뉴얼사진에 직접 키워드 등록 가능하니 참고 부탁드립니다</a:t>
            </a:r>
            <a:r>
              <a:rPr lang="en-US" altLang="ko-KR" sz="1100" dirty="0" smtClean="0">
                <a:solidFill>
                  <a:schemeClr val="accent6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8783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공지사항 </a:t>
            </a:r>
            <a:r>
              <a:rPr lang="en-US" altLang="ko-KR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알림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73100" y="1010682"/>
            <a:ext cx="5461000" cy="4889500"/>
          </a:xfrm>
          <a:prstGeom prst="rect">
            <a:avLst/>
          </a:prstGeom>
          <a:solidFill>
            <a:srgbClr val="253550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63600" y="12065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F59E0B"/>
                </a:solidFill>
                <a:latin typeface="맑은 고딕" panose="020B0503020000020004" pitchFamily="50" charset="-127"/>
              </a:rPr>
              <a:t>공지사항 확인</a:t>
            </a:r>
            <a:endParaRPr lang="ko-KR" altLang="en-US" sz="14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600" y="1676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화면 우측 패널에 카드 형태로 표시됩니다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2006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카드 클릭 → 전체 내용 확인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600" y="22860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상단 고정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중요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공지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dirty="0" err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고정핀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활용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2565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빨간 배지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긴급 공지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4011305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벨 아이콘 </a:t>
            </a:r>
            <a:r>
              <a:rPr lang="en-US" altLang="ko-KR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우측 상단</a:t>
            </a:r>
            <a:r>
              <a:rPr lang="en-US" altLang="ko-KR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b="1" dirty="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233" y="4278868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 읽지 않은 공지 목록 팝업 표시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3600" y="4567023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긴급 공지 티커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3600" y="4805571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 화면 상단 빨간 스크롤 텍스트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클릭 시 이동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3499" y="5269637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중요 공지는 </a:t>
            </a:r>
            <a:r>
              <a:rPr lang="ko-KR" altLang="en-US" sz="1100" dirty="0" err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채팅창</a:t>
            </a:r>
            <a:r>
              <a:rPr lang="ko-KR" altLang="en-US" sz="1100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 상단 긴급 공지를 </a:t>
            </a:r>
            <a:r>
              <a:rPr lang="ko-KR" altLang="en-US" sz="1100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주기적으로 확인하세요</a:t>
            </a:r>
            <a:r>
              <a:rPr lang="en-US" altLang="ko-KR" sz="1100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dirty="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350000" y="1016000"/>
            <a:ext cx="5270500" cy="4889500"/>
          </a:xfrm>
          <a:prstGeom prst="rect">
            <a:avLst/>
          </a:prstGeom>
          <a:solidFill>
            <a:srgbClr val="253550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578600" y="1206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알림 종류</a:t>
            </a:r>
            <a:endParaRPr lang="ko-KR" altLang="en-US" sz="14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451600" y="1714500"/>
            <a:ext cx="5016500" cy="1117600"/>
          </a:xfrm>
          <a:prstGeom prst="rect">
            <a:avLst/>
          </a:prstGeom>
          <a:solidFill>
            <a:srgbClr val="1A254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578600" y="1841500"/>
            <a:ext cx="476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인앱 알림</a:t>
            </a:r>
            <a:endParaRPr lang="ko-KR" altLang="en-US" sz="1300" b="1">
              <a:solidFill>
                <a:srgbClr val="22C55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78600" y="2159000"/>
            <a:ext cx="476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항상 자동 작동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화면 내 팝업과 로그 업데이트로 감지 내용을 표시합니다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451600" y="2959100"/>
            <a:ext cx="5016500" cy="1117600"/>
          </a:xfrm>
          <a:prstGeom prst="rect">
            <a:avLst/>
          </a:prstGeom>
          <a:solidFill>
            <a:srgbClr val="1A254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578600" y="3086100"/>
            <a:ext cx="476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새창 알림</a:t>
            </a:r>
            <a:endParaRPr lang="ko-KR" altLang="en-US" sz="13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78600" y="3403600"/>
            <a:ext cx="476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허용 설정 필요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다른 창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탭 사용 중에도 팝업 알림 수신 가능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슬라이드 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7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참고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451600" y="4203700"/>
            <a:ext cx="5016500" cy="1117600"/>
          </a:xfrm>
          <a:prstGeom prst="rect">
            <a:avLst/>
          </a:prstGeom>
          <a:solidFill>
            <a:srgbClr val="1A254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578600" y="4330700"/>
            <a:ext cx="476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 smtClean="0">
                <a:solidFill>
                  <a:srgbClr val="F59E0B"/>
                </a:solidFill>
                <a:latin typeface="맑은 고딕" panose="020B0503020000020004" pitchFamily="50" charset="-127"/>
              </a:rPr>
              <a:t>티커 알림</a:t>
            </a:r>
            <a:endParaRPr lang="ko-KR" altLang="en-US" sz="13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78600" y="4648200"/>
            <a:ext cx="476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항상 자동 작동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화면 상단 빨간 스크롤 텍스트로 긴급 공지 표시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7000" y="548640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F59E0B"/>
                </a:solidFill>
                <a:latin typeface="맑은 고딕" panose="020B0503020000020004" pitchFamily="50" charset="-127"/>
              </a:rPr>
              <a:t>새창 알림은 브라우저 허용 설정이 필요합니다</a:t>
            </a:r>
            <a:r>
              <a:rPr lang="en-US" altLang="ko-KR" sz="1100" smtClean="0">
                <a:solidFill>
                  <a:srgbClr val="F59E0B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 smtClean="0">
                <a:solidFill>
                  <a:srgbClr val="F59E0B"/>
                </a:solidFill>
                <a:latin typeface="맑은 고딕" panose="020B0503020000020004" pitchFamily="50" charset="-127"/>
              </a:rPr>
              <a:t>슬라이드 </a:t>
            </a:r>
            <a:r>
              <a:rPr lang="en-US" altLang="ko-KR" sz="1100" smtClean="0">
                <a:solidFill>
                  <a:srgbClr val="F59E0B"/>
                </a:solidFill>
                <a:latin typeface="맑은 고딕" panose="020B0503020000020004" pitchFamily="50" charset="-127"/>
              </a:rPr>
              <a:t>7 </a:t>
            </a:r>
            <a:r>
              <a:rPr lang="ko-KR" altLang="en-US" sz="1100" smtClean="0">
                <a:solidFill>
                  <a:srgbClr val="F59E0B"/>
                </a:solidFill>
                <a:latin typeface="맑은 고딕" panose="020B0503020000020004" pitchFamily="50" charset="-127"/>
              </a:rPr>
              <a:t>참고</a:t>
            </a:r>
            <a:r>
              <a:rPr lang="en-US" altLang="ko-KR" sz="1100" smtClean="0">
                <a:solidFill>
                  <a:srgbClr val="F59E0B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3600" y="2868746"/>
            <a:ext cx="4889500" cy="2857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0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전체 공지 확인</a:t>
            </a:r>
            <a:endParaRPr lang="ko-KR" altLang="en-US" sz="1000" b="1" dirty="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233" y="3276084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전체 공지 확인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‘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을 통한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이전 모든 공지 확인 가능 </a:t>
            </a:r>
            <a:endParaRPr lang="en-US" altLang="ko-KR" sz="1100" dirty="0" smtClean="0">
              <a:solidFill>
                <a:srgbClr val="CBD5E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검색기능을 통한 공지 확인 </a:t>
            </a:r>
            <a:endParaRPr lang="en-US" altLang="ko-KR" sz="1100" dirty="0" smtClean="0">
              <a:solidFill>
                <a:srgbClr val="CBD5E1"/>
              </a:solidFill>
              <a:latin typeface="맑은 고딕" panose="020B0503020000020004" pitchFamily="50" charset="-127"/>
            </a:endParaRPr>
          </a:p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달력을 통한 해당 일자 공지만 별도 확인 가능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532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사기글 모니터링 로그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825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관리자 봇이 감지한 사기 의심 판매글이 실시간으로 표시됩니다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확인 후 처리하세요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5000" y="1333500"/>
            <a:ext cx="5461000" cy="4953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25500" y="14605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사기글 감지 로그</a:t>
            </a:r>
            <a:endParaRPr lang="ko-KR" altLang="en-US" sz="12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35000" y="1790700"/>
            <a:ext cx="5461000" cy="254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8500" y="1854200"/>
            <a:ext cx="5308600" cy="660400"/>
          </a:xfrm>
          <a:prstGeom prst="rect">
            <a:avLst/>
          </a:prstGeom>
          <a:solidFill>
            <a:srgbClr val="2535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85674" y="2209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LOL </a:t>
            </a:r>
            <a:r>
              <a:rPr lang="ko-KR" altLang="en-US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다이아 </a:t>
            </a:r>
            <a:r>
              <a:rPr lang="ko-KR" altLang="en-US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계정 </a:t>
            </a:r>
            <a:r>
              <a:rPr lang="ko-KR" altLang="en-US" sz="1000" b="1" dirty="0" err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급처</a:t>
            </a:r>
            <a:r>
              <a:rPr lang="ko-KR" altLang="en-US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만원</a:t>
            </a:r>
            <a:endParaRPr lang="ko-KR" altLang="en-US" sz="1000" b="1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95838" y="2207042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50,000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원  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000" dirty="0" err="1" smtClean="0">
                <a:solidFill>
                  <a:srgbClr val="94A3B8"/>
                </a:solidFill>
                <a:latin typeface="맑은 고딕" panose="020B0503020000020004" pitchFamily="50" charset="-127"/>
              </a:rPr>
              <a:t>계정거래</a:t>
            </a:r>
            <a:endParaRPr lang="ko-KR" altLang="en-US" sz="10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800600" y="2006600"/>
            <a:ext cx="1117600" cy="330200"/>
          </a:xfrm>
          <a:prstGeom prst="rect">
            <a:avLst/>
          </a:prstGeom>
          <a:solidFill>
            <a:srgbClr val="1D3557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800600" y="2057400"/>
            <a:ext cx="111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필터제외</a:t>
            </a:r>
            <a:endParaRPr lang="ko-KR" altLang="en-US" sz="9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98500" y="2603500"/>
            <a:ext cx="5308600" cy="660400"/>
          </a:xfrm>
          <a:prstGeom prst="rect">
            <a:avLst/>
          </a:prstGeom>
          <a:solidFill>
            <a:srgbClr val="1A1A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90668" y="2950414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b="1" dirty="0" err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메이플</a:t>
            </a:r>
            <a:r>
              <a:rPr lang="ko-KR" altLang="en-US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메소 </a:t>
            </a:r>
            <a:r>
              <a:rPr lang="en-US" altLang="ko-KR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억 팔아요 안전거래</a:t>
            </a:r>
            <a:endParaRPr lang="ko-KR" altLang="en-US" sz="1000" b="1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95838" y="2947307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30,000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원  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000" dirty="0" err="1" smtClean="0">
                <a:solidFill>
                  <a:srgbClr val="94A3B8"/>
                </a:solidFill>
                <a:latin typeface="맑은 고딕" panose="020B0503020000020004" pitchFamily="50" charset="-127"/>
              </a:rPr>
              <a:t>게임머니</a:t>
            </a:r>
            <a:endParaRPr lang="ko-KR" altLang="en-US" sz="10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800600" y="2755900"/>
            <a:ext cx="1117600" cy="330200"/>
          </a:xfrm>
          <a:prstGeom prst="rect">
            <a:avLst/>
          </a:prstGeom>
          <a:solidFill>
            <a:srgbClr val="374151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800600" y="2806700"/>
            <a:ext cx="111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smtClean="0">
                <a:solidFill>
                  <a:srgbClr val="475569"/>
                </a:solidFill>
                <a:latin typeface="맑은 고딕" panose="020B0503020000020004" pitchFamily="50" charset="-127"/>
              </a:rPr>
              <a:t>제외됨</a:t>
            </a:r>
            <a:endParaRPr lang="ko-KR" altLang="en-US" sz="900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98500" y="3352800"/>
            <a:ext cx="5308600" cy="660400"/>
          </a:xfrm>
          <a:prstGeom prst="rect">
            <a:avLst/>
          </a:prstGeom>
          <a:solidFill>
            <a:srgbClr val="2535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81050" y="3694476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피파 포인트 </a:t>
            </a:r>
            <a:r>
              <a:rPr lang="en-US" altLang="ko-KR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100</a:t>
            </a:r>
            <a:r>
              <a:rPr lang="ko-KR" altLang="en-US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만 반값 팜</a:t>
            </a:r>
            <a:endParaRPr lang="ko-KR" altLang="en-US" sz="10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95838" y="369654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15,000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원  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게임아이템</a:t>
            </a:r>
            <a:endParaRPr lang="ko-KR" altLang="en-US" sz="10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800600" y="3505200"/>
            <a:ext cx="1117600" cy="330200"/>
          </a:xfrm>
          <a:prstGeom prst="rect">
            <a:avLst/>
          </a:prstGeom>
          <a:solidFill>
            <a:srgbClr val="1D3557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4800600" y="3556000"/>
            <a:ext cx="111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필터제외</a:t>
            </a:r>
            <a:endParaRPr lang="ko-KR" altLang="en-US" sz="9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98500" y="4102100"/>
            <a:ext cx="5308600" cy="660400"/>
          </a:xfrm>
          <a:prstGeom prst="rect">
            <a:avLst/>
          </a:prstGeom>
          <a:solidFill>
            <a:srgbClr val="2535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25500" y="4475718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WOW </a:t>
            </a:r>
            <a:r>
              <a:rPr lang="ko-KR" altLang="en-US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골드 저렴하게 팝니다 직거래</a:t>
            </a:r>
            <a:endParaRPr lang="ko-KR" altLang="en-US" sz="1000" b="1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95838" y="4475718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20,000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원  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000" dirty="0" err="1" smtClean="0">
                <a:solidFill>
                  <a:srgbClr val="94A3B8"/>
                </a:solidFill>
                <a:latin typeface="맑은 고딕" panose="020B0503020000020004" pitchFamily="50" charset="-127"/>
              </a:rPr>
              <a:t>게임머니</a:t>
            </a:r>
            <a:endParaRPr lang="ko-KR" altLang="en-US" sz="10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800600" y="4254500"/>
            <a:ext cx="1117600" cy="330200"/>
          </a:xfrm>
          <a:prstGeom prst="rect">
            <a:avLst/>
          </a:prstGeom>
          <a:solidFill>
            <a:srgbClr val="1D3557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4800600" y="4305300"/>
            <a:ext cx="1117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필터제외</a:t>
            </a:r>
            <a:endParaRPr lang="ko-KR" altLang="en-US" sz="9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5500" y="4927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새로 감지될 때마다 자동 추가됩니다</a:t>
            </a:r>
            <a:endParaRPr lang="ko-KR" altLang="en-US" sz="10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5500" y="5181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실시간 업데이트 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00" dirty="0" err="1" smtClean="0">
                <a:solidFill>
                  <a:srgbClr val="94A3B8"/>
                </a:solidFill>
                <a:latin typeface="맑은 고딕" panose="020B0503020000020004" pitchFamily="50" charset="-127"/>
              </a:rPr>
              <a:t>새로고침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 불필요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)</a:t>
            </a:r>
            <a:endParaRPr lang="ko-KR" altLang="en-US" sz="10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5500" y="5435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로그를 닫아도 데이터는 유지됩니다</a:t>
            </a:r>
            <a:endParaRPr lang="ko-KR" altLang="en-US" sz="10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350000" y="1333500"/>
            <a:ext cx="5270500" cy="4953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78600" y="149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버튼 설명 </a:t>
            </a:r>
            <a:r>
              <a:rPr lang="en-US" altLang="ko-KR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처리 방법</a:t>
            </a:r>
            <a:endParaRPr lang="ko-KR" altLang="en-US" sz="14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451600" y="1930400"/>
            <a:ext cx="5016500" cy="863600"/>
          </a:xfrm>
          <a:prstGeom prst="rect">
            <a:avLst/>
          </a:prstGeom>
          <a:solidFill>
            <a:srgbClr val="1D3557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6578600" y="2032000"/>
            <a:ext cx="476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필터제외  </a:t>
            </a:r>
            <a:r>
              <a:rPr lang="en-US" altLang="ko-KR" sz="12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파란 버튼</a:t>
            </a:r>
            <a:r>
              <a:rPr lang="en-US" altLang="ko-KR" sz="12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78600" y="2311400"/>
            <a:ext cx="47625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클릭 시 해당 물품을 제외물품목록에 등록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이후 봇이 자동으로 무시합니다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451600" y="2895600"/>
            <a:ext cx="5016500" cy="698500"/>
          </a:xfrm>
          <a:prstGeom prst="rect">
            <a:avLst/>
          </a:prstGeom>
          <a:solidFill>
            <a:srgbClr val="374151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6578600" y="2997200"/>
            <a:ext cx="476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475569"/>
                </a:solidFill>
                <a:latin typeface="맑은 고딕" panose="020B0503020000020004" pitchFamily="50" charset="-127"/>
              </a:rPr>
              <a:t>제외됨  </a:t>
            </a:r>
            <a:r>
              <a:rPr lang="en-US" altLang="ko-KR" sz="1200" b="1" smtClean="0">
                <a:solidFill>
                  <a:srgbClr val="475569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1" smtClean="0">
                <a:solidFill>
                  <a:srgbClr val="475569"/>
                </a:solidFill>
                <a:latin typeface="맑은 고딕" panose="020B0503020000020004" pitchFamily="50" charset="-127"/>
              </a:rPr>
              <a:t>회색 버튼</a:t>
            </a:r>
            <a:r>
              <a:rPr lang="en-US" altLang="ko-KR" sz="1200" b="1" smtClean="0">
                <a:solidFill>
                  <a:srgbClr val="475569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 b="1">
              <a:solidFill>
                <a:srgbClr val="47556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78600" y="3276600"/>
            <a:ext cx="476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이미 제외 등록된 물품</a:t>
            </a:r>
            <a:r>
              <a:rPr lang="en-US" altLang="ko-KR" sz="10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94A3B8"/>
                </a:solidFill>
                <a:latin typeface="맑은 고딕" panose="020B0503020000020004" pitchFamily="50" charset="-127"/>
              </a:rPr>
              <a:t>버튼 비활성화 상태</a:t>
            </a:r>
            <a:r>
              <a:rPr lang="en-US" altLang="ko-KR" sz="10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451600" y="3746500"/>
            <a:ext cx="5016500" cy="508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6578600" y="3911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처리 절차</a:t>
            </a:r>
            <a:endParaRPr lang="ko-KR" altLang="en-US" sz="13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78600" y="43180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① 감지된 물품 제목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가격 확인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78600" y="4622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② 실제 사기 의심 여부 판단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78600" y="4927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dirty="0" smtClean="0">
                <a:solidFill>
                  <a:srgbClr val="00B0F0"/>
                </a:solidFill>
                <a:latin typeface="맑은 고딕" panose="020B0503020000020004" pitchFamily="50" charset="-127"/>
              </a:rPr>
              <a:t>③ 사기 의심 물품 아닌 정상 물품 → </a:t>
            </a:r>
            <a:r>
              <a:rPr lang="en-US" altLang="ko-KR" sz="1100" b="1" dirty="0" smtClean="0">
                <a:solidFill>
                  <a:srgbClr val="00B0F0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b="1" dirty="0" err="1" smtClean="0">
                <a:solidFill>
                  <a:srgbClr val="00B0F0"/>
                </a:solidFill>
                <a:latin typeface="맑은 고딕" panose="020B0503020000020004" pitchFamily="50" charset="-127"/>
              </a:rPr>
              <a:t>필터제외</a:t>
            </a:r>
            <a:r>
              <a:rPr lang="en-US" altLang="ko-KR" sz="1100" b="1" dirty="0" smtClean="0">
                <a:solidFill>
                  <a:srgbClr val="00B0F0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b="1" dirty="0" smtClean="0">
                <a:solidFill>
                  <a:srgbClr val="00B0F0"/>
                </a:solidFill>
                <a:latin typeface="맑은 고딕" panose="020B0503020000020004" pitchFamily="50" charset="-127"/>
              </a:rPr>
              <a:t>클릭</a:t>
            </a:r>
            <a:endParaRPr lang="ko-KR" altLang="en-US" sz="1100" b="1" dirty="0">
              <a:solidFill>
                <a:srgbClr val="00B0F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78600" y="5232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④ 사기 의심 물품 </a:t>
            </a:r>
            <a:r>
              <a:rPr lang="ko-KR" altLang="en-US" sz="1100" b="1" dirty="0" err="1" smtClean="0">
                <a:solidFill>
                  <a:srgbClr val="FF0000"/>
                </a:solidFill>
                <a:latin typeface="맑은 고딕" panose="020B0503020000020004" pitchFamily="50" charset="-127"/>
              </a:rPr>
              <a:t>판매글은</a:t>
            </a:r>
            <a:r>
              <a:rPr lang="ko-KR" altLang="en-US" sz="11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그대로 두기 </a:t>
            </a:r>
            <a:r>
              <a:rPr lang="en-US" altLang="ko-KR" sz="11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– [</a:t>
            </a:r>
            <a:r>
              <a:rPr lang="ko-KR" altLang="en-US" sz="1100" b="1" dirty="0" err="1" smtClean="0">
                <a:solidFill>
                  <a:srgbClr val="FF0000"/>
                </a:solidFill>
                <a:latin typeface="맑은 고딕" panose="020B0503020000020004" pitchFamily="50" charset="-127"/>
              </a:rPr>
              <a:t>필터제외</a:t>
            </a:r>
            <a:r>
              <a:rPr lang="en-US" altLang="ko-KR" sz="11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b="1" dirty="0" err="1" smtClean="0">
                <a:solidFill>
                  <a:srgbClr val="FF0000"/>
                </a:solidFill>
                <a:latin typeface="맑은 고딕" panose="020B0503020000020004" pitchFamily="50" charset="-127"/>
              </a:rPr>
              <a:t>미클릭</a:t>
            </a:r>
            <a:endParaRPr lang="ko-KR" altLang="en-US" sz="11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78600" y="5638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F59E0B"/>
                </a:solidFill>
                <a:latin typeface="맑은 고딕" panose="020B0503020000020004" pitchFamily="50" charset="-127"/>
              </a:rPr>
              <a:t>판단이 어려우면 관리자에게 문의하세요</a:t>
            </a:r>
            <a:r>
              <a:rPr lang="en-US" altLang="ko-KR" sz="1100" smtClean="0">
                <a:solidFill>
                  <a:srgbClr val="F59E0B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0668" y="189433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#0000000000000000</a:t>
            </a:r>
            <a:endParaRPr lang="ko-KR" altLang="en-US" sz="1000" b="1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1050" y="2613864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#0000000000000000</a:t>
            </a:r>
            <a:endParaRPr lang="ko-KR" altLang="en-US" sz="1000" b="1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81050" y="3443239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#0000000000000000</a:t>
            </a:r>
            <a:endParaRPr lang="ko-KR" altLang="en-US" sz="1000" b="1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0668" y="4180443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b="1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#0000000000000000</a:t>
            </a:r>
            <a:endParaRPr lang="ko-KR" altLang="en-US" sz="1000" b="1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020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제외물품목록 관리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825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필터제외 처리된 물품 목록을 확인하고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필요 시 개별 또는 전체 해제할 수 있습니다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5000" y="1333500"/>
            <a:ext cx="5461000" cy="2095500"/>
          </a:xfrm>
          <a:prstGeom prst="rect">
            <a:avLst/>
          </a:prstGeom>
          <a:solidFill>
            <a:srgbClr val="253550"/>
          </a:solidFill>
          <a:ln w="19050">
            <a:solidFill>
              <a:srgbClr val="22C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3600" y="1498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목록 열기</a:t>
            </a:r>
            <a:endParaRPr lang="ko-KR" altLang="en-US" sz="1400" b="1">
              <a:solidFill>
                <a:srgbClr val="22C55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1930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화면 우측 상단 탭에서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제외물품목록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클릭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600" y="22352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→ 현재 필터 제외 등록된 모든 물품이 표시됩니다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2514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→ 물품 제목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+ </a:t>
            </a:r>
            <a:r>
              <a:rPr lang="ko-KR" altLang="en-US" sz="1100" dirty="0" err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거래번호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표시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27940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→ 전체 해제 버튼으로 일괄 초기화 가능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35000" y="3594100"/>
            <a:ext cx="5461000" cy="2692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25500" y="37211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제외물품목록 </a:t>
            </a:r>
            <a:r>
              <a:rPr lang="en-US" altLang="ko-KR" sz="11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예시</a:t>
            </a:r>
            <a:r>
              <a:rPr lang="en-US" altLang="ko-KR" sz="11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b="1">
              <a:solidFill>
                <a:srgbClr val="22C55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98500" y="4064000"/>
            <a:ext cx="5308600" cy="609600"/>
          </a:xfrm>
          <a:prstGeom prst="rect">
            <a:avLst/>
          </a:prstGeom>
          <a:solidFill>
            <a:srgbClr val="2535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25500" y="4114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LOL </a:t>
            </a:r>
            <a:r>
              <a:rPr lang="ko-KR" altLang="en-US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다이아 계정 급처 </a:t>
            </a:r>
            <a:r>
              <a:rPr lang="en-US" altLang="ko-KR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만원</a:t>
            </a:r>
            <a:endParaRPr lang="ko-KR" altLang="en-US" sz="10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5500" y="43561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smtClean="0">
                <a:solidFill>
                  <a:srgbClr val="94A3B8"/>
                </a:solidFill>
                <a:latin typeface="맑은 고딕" panose="020B0503020000020004" pitchFamily="50" charset="-127"/>
              </a:rPr>
              <a:t>TID_98761234</a:t>
            </a:r>
            <a:endParaRPr lang="ko-KR" altLang="en-US" sz="9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762500" y="4165600"/>
            <a:ext cx="1143000" cy="355600"/>
          </a:xfrm>
          <a:prstGeom prst="rect">
            <a:avLst/>
          </a:prstGeom>
          <a:solidFill>
            <a:srgbClr val="1A2540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762500" y="42164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차단 해제</a:t>
            </a:r>
            <a:endParaRPr lang="ko-KR" altLang="en-US" sz="9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98500" y="4762500"/>
            <a:ext cx="5308600" cy="609600"/>
          </a:xfrm>
          <a:prstGeom prst="rect">
            <a:avLst/>
          </a:prstGeom>
          <a:solidFill>
            <a:srgbClr val="2535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25500" y="48133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피파 포인트 </a:t>
            </a:r>
            <a:r>
              <a:rPr lang="en-US" altLang="ko-KR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100</a:t>
            </a:r>
            <a:r>
              <a:rPr lang="ko-KR" altLang="en-US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만 반값 팜</a:t>
            </a:r>
            <a:endParaRPr lang="ko-KR" altLang="en-US" sz="10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5500" y="5054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smtClean="0">
                <a:solidFill>
                  <a:srgbClr val="94A3B8"/>
                </a:solidFill>
                <a:latin typeface="맑은 고딕" panose="020B0503020000020004" pitchFamily="50" charset="-127"/>
              </a:rPr>
              <a:t>TID_87652345</a:t>
            </a:r>
            <a:endParaRPr lang="ko-KR" altLang="en-US" sz="9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762500" y="4864100"/>
            <a:ext cx="1143000" cy="355600"/>
          </a:xfrm>
          <a:prstGeom prst="rect">
            <a:avLst/>
          </a:prstGeom>
          <a:solidFill>
            <a:srgbClr val="1A2540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4762500" y="49149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차단 해제</a:t>
            </a:r>
            <a:endParaRPr lang="ko-KR" altLang="en-US" sz="9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98500" y="5461000"/>
            <a:ext cx="5308600" cy="609600"/>
          </a:xfrm>
          <a:prstGeom prst="rect">
            <a:avLst/>
          </a:prstGeom>
          <a:solidFill>
            <a:srgbClr val="2535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25500" y="55118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WOW </a:t>
            </a:r>
            <a:r>
              <a:rPr lang="ko-KR" altLang="en-US" sz="10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골드 저렴하게 팝니다 직거래</a:t>
            </a:r>
            <a:endParaRPr lang="ko-KR" altLang="en-US" sz="10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5500" y="57531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smtClean="0">
                <a:solidFill>
                  <a:srgbClr val="94A3B8"/>
                </a:solidFill>
                <a:latin typeface="맑은 고딕" panose="020B0503020000020004" pitchFamily="50" charset="-127"/>
              </a:rPr>
              <a:t>TID_76543456</a:t>
            </a:r>
            <a:endParaRPr lang="ko-KR" altLang="en-US" sz="9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762500" y="5562600"/>
            <a:ext cx="1143000" cy="355600"/>
          </a:xfrm>
          <a:prstGeom prst="rect">
            <a:avLst/>
          </a:prstGeom>
          <a:solidFill>
            <a:srgbClr val="1A2540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4762500" y="56134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차단 해제</a:t>
            </a:r>
            <a:endParaRPr lang="ko-KR" altLang="en-US" sz="9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350000" y="1333500"/>
            <a:ext cx="5270500" cy="4953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6578600" y="149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해제 방법</a:t>
            </a:r>
            <a:endParaRPr lang="ko-KR" altLang="en-US" sz="14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78600" y="1968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개별 해제</a:t>
            </a:r>
            <a:r>
              <a:rPr lang="en-US" altLang="ko-KR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: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78600" y="22479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해당 물품 우측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차단 해제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버튼 클릭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78600" y="25273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→ 즉시 감지 대상으로 복원됩니다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78600" y="29337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전체 해제</a:t>
            </a:r>
            <a:r>
              <a:rPr lang="en-US" altLang="ko-KR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: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78600" y="32131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목록 상단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전체 해제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버튼 클릭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78600" y="3492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→ 모든 제외 물품 일괄 초기화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451600" y="3898900"/>
            <a:ext cx="5016500" cy="508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6578600" y="4064000"/>
            <a:ext cx="482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주의</a:t>
            </a:r>
            <a:r>
              <a:rPr lang="en-US" altLang="ko-KR" sz="11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전체 해제는 되돌릴 수 없습니다</a:t>
            </a:r>
            <a:r>
              <a:rPr lang="en-US" altLang="ko-KR" sz="11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신중하게 사용하세요</a:t>
            </a:r>
            <a:r>
              <a:rPr lang="en-US" altLang="ko-KR" sz="11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78600" y="4635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 b="1" smtClean="0">
                <a:solidFill>
                  <a:srgbClr val="F59E0B"/>
                </a:solidFill>
                <a:latin typeface="맑은 고딕" panose="020B0503020000020004" pitchFamily="50" charset="-127"/>
              </a:rPr>
              <a:t>언제 해제하나요</a:t>
            </a:r>
            <a:r>
              <a:rPr lang="en-US" altLang="ko-KR" sz="1300" b="1" smtClean="0">
                <a:solidFill>
                  <a:srgbClr val="F59E0B"/>
                </a:solidFill>
                <a:latin typeface="맑은 고딕" panose="020B0503020000020004" pitchFamily="50" charset="-127"/>
              </a:rPr>
              <a:t>?</a:t>
            </a:r>
            <a:endParaRPr lang="ko-KR" altLang="en-US" sz="13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78600" y="4978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실수로 </a:t>
            </a:r>
            <a:r>
              <a:rPr lang="ko-KR" altLang="en-US" sz="1100" dirty="0" err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필터제외를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누른 경우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78600" y="5257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해당 물품 처리 완료된 경우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78600" y="55372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정기 목록 초기화 시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1934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브라우저 알림 설정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825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다른 탭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창 작업 중에도 사기글 알림을 받으려면 브라우저 알림을 허용해야 합니다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5000" y="1333500"/>
            <a:ext cx="7239000" cy="2286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3600" y="14986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알림 허용 방법</a:t>
            </a:r>
            <a:endParaRPr lang="ko-KR" altLang="en-US" sz="14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19304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방법 </a:t>
            </a:r>
            <a:r>
              <a:rPr lang="en-US" altLang="ko-KR" sz="11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1  </a:t>
            </a:r>
            <a:r>
              <a:rPr lang="ko-KR" altLang="en-US" sz="11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하단 배너 이용 </a:t>
            </a:r>
            <a:r>
              <a:rPr lang="en-US" altLang="ko-KR" sz="11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권장</a:t>
            </a:r>
            <a:r>
              <a:rPr lang="en-US" altLang="ko-KR" sz="11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b="1" dirty="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600" y="22098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페이지 접속 후 하단에 알림 허용 배너 자동 표시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24892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→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알림 허용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버튼 클릭 → 브라우저 팝업에서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허용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선택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28956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방법 </a:t>
            </a:r>
            <a:r>
              <a:rPr lang="en-US" altLang="ko-KR" sz="11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2  </a:t>
            </a:r>
            <a:r>
              <a:rPr lang="ko-KR" altLang="en-US" sz="1100" b="1" dirty="0" err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주소창</a:t>
            </a:r>
            <a:r>
              <a:rPr lang="ko-KR" altLang="en-US" sz="11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 이용</a:t>
            </a:r>
            <a:endParaRPr lang="ko-KR" altLang="en-US" sz="1100" b="1" dirty="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3600" y="31750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주소창 왼쪽 자물쇠 아이콘 → 알림 →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허용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선택 → 새로고침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35000" y="3810000"/>
            <a:ext cx="7239000" cy="1968500"/>
          </a:xfrm>
          <a:prstGeom prst="rect">
            <a:avLst/>
          </a:prstGeom>
          <a:solidFill>
            <a:srgbClr val="253550"/>
          </a:solidFill>
          <a:ln w="19050">
            <a:solidFill>
              <a:srgbClr val="EF44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63600" y="39751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알림이 차단된 경우</a:t>
            </a:r>
            <a:endParaRPr lang="ko-KR" altLang="en-US" sz="14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3600" y="44196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페이지 하단에 빨간 테두리 안내 배너가 자동으로 표시됩니다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3600" y="46990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① 크롬 </a:t>
            </a:r>
            <a:r>
              <a:rPr lang="ko-KR" altLang="en-US" sz="1100" b="1" dirty="0" err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주소창</a:t>
            </a:r>
            <a:r>
              <a:rPr lang="ko-KR" altLang="en-US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 왼쪽 자물쇠 아이콘 클릭 </a:t>
            </a:r>
            <a:r>
              <a:rPr lang="en-US" altLang="ko-KR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( </a:t>
            </a:r>
            <a:r>
              <a:rPr lang="ko-KR" altLang="en-US" sz="1100" b="1" dirty="0" err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엣지의</a:t>
            </a:r>
            <a:r>
              <a:rPr lang="ko-KR" altLang="en-US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 경우 </a:t>
            </a:r>
            <a:r>
              <a:rPr lang="ko-KR" altLang="en-US" sz="1100" b="1" dirty="0" err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주소창</a:t>
            </a:r>
            <a:r>
              <a:rPr lang="ko-KR" altLang="en-US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 오른편 종모양 클릭 </a:t>
            </a:r>
            <a:r>
              <a:rPr lang="en-US" altLang="ko-KR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허용</a:t>
            </a:r>
            <a:r>
              <a:rPr lang="en-US" altLang="ko-KR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‘ )</a:t>
            </a:r>
            <a:endParaRPr lang="ko-KR" altLang="en-US" sz="1100" b="1" dirty="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3600" y="49784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② 알림 항목 → 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허용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] 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으로 변경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3600" y="5257800"/>
            <a:ext cx="679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③ 페이지 새로고침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128000" y="1333500"/>
            <a:ext cx="3556000" cy="4445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356600" y="1498600"/>
            <a:ext cx="311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주의사항</a:t>
            </a:r>
            <a:endParaRPr lang="ko-KR" altLang="en-US" sz="14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6600" y="1930400"/>
            <a:ext cx="31115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dirty="0" smtClean="0">
                <a:solidFill>
                  <a:srgbClr val="22C55E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dirty="0" smtClean="0">
                <a:solidFill>
                  <a:srgbClr val="22C55E"/>
                </a:solidFill>
                <a:latin typeface="맑은 고딕" panose="020B0503020000020004" pitchFamily="50" charset="-127"/>
              </a:rPr>
              <a:t>하단 배너 사라지면 정상 허용 상태</a:t>
            </a:r>
            <a:endParaRPr lang="ko-KR" altLang="en-US" sz="1100" dirty="0">
              <a:solidFill>
                <a:srgbClr val="22C55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229600" y="2857500"/>
            <a:ext cx="32004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356600" y="3048000"/>
            <a:ext cx="311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중요</a:t>
            </a:r>
            <a:endParaRPr lang="ko-KR" altLang="en-US" sz="12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56600" y="4292600"/>
            <a:ext cx="311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브라우저 실행 중일 때만 알림 수신 가능합니다</a:t>
            </a:r>
            <a:r>
              <a:rPr lang="en-US" altLang="ko-KR" sz="10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3208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화면 설정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825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헤더 우측 버튼으로 테마와 글자 크기를 개인 취향에 맞게 조절할 수 있습니다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5000" y="1333500"/>
            <a:ext cx="5461000" cy="4953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3600" y="1498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테마 변경</a:t>
            </a:r>
            <a:endParaRPr lang="ko-KR" altLang="en-US" sz="14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19050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헤더 우측 아이콘 클릭할 때마다 순서대로 전환됩니다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25500" y="2311400"/>
            <a:ext cx="2413000" cy="1206500"/>
          </a:xfrm>
          <a:prstGeom prst="rect">
            <a:avLst/>
          </a:prstGeom>
          <a:solidFill>
            <a:srgbClr val="F1F3F5"/>
          </a:solidFill>
          <a:ln w="19050">
            <a:solidFill>
              <a:srgbClr val="C8D2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52500" y="24130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 smtClean="0">
                <a:solidFill>
                  <a:srgbClr val="111827"/>
                </a:solidFill>
                <a:latin typeface="맑은 고딕" panose="020B0503020000020004" pitchFamily="50" charset="-127"/>
              </a:rPr>
              <a:t>라이트 모드</a:t>
            </a:r>
            <a:endParaRPr lang="ko-KR" altLang="en-US" sz="1100" b="1">
              <a:solidFill>
                <a:srgbClr val="11182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52500" y="2768600"/>
            <a:ext cx="2159000" cy="1524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952500" y="3009900"/>
            <a:ext cx="1270000" cy="1270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52500" y="32639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smtClean="0">
                <a:solidFill>
                  <a:srgbClr val="64788C"/>
                </a:solidFill>
                <a:latin typeface="맑은 고딕" panose="020B0503020000020004" pitchFamily="50" charset="-127"/>
              </a:rPr>
              <a:t>흰 배경 </a:t>
            </a:r>
            <a:r>
              <a:rPr lang="en-US" altLang="ko-KR" sz="900" smtClean="0">
                <a:solidFill>
                  <a:srgbClr val="64788C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900" smtClean="0">
                <a:solidFill>
                  <a:srgbClr val="64788C"/>
                </a:solidFill>
                <a:latin typeface="맑은 고딕" panose="020B0503020000020004" pitchFamily="50" charset="-127"/>
              </a:rPr>
              <a:t>밝은 환경 권장</a:t>
            </a:r>
            <a:endParaRPr lang="ko-KR" altLang="en-US" sz="900">
              <a:solidFill>
                <a:srgbClr val="64788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403600" y="2311400"/>
            <a:ext cx="2413000" cy="12065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530600" y="24130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다크 모드</a:t>
            </a:r>
            <a:endParaRPr lang="ko-KR" altLang="en-US" sz="11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30600" y="2768600"/>
            <a:ext cx="2159000" cy="1524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530600" y="3009900"/>
            <a:ext cx="1270000" cy="127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530600" y="32639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어두운 배경 </a:t>
            </a:r>
            <a:r>
              <a:rPr lang="en-US" altLang="ko-KR" sz="900" smtClean="0">
                <a:solidFill>
                  <a:srgbClr val="94A3B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9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야간 작업 권장</a:t>
            </a:r>
            <a:endParaRPr lang="ko-KR" altLang="en-US" sz="9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25500" y="3657600"/>
            <a:ext cx="4991100" cy="1206500"/>
          </a:xfrm>
          <a:prstGeom prst="rect">
            <a:avLst/>
          </a:prstGeom>
          <a:solidFill>
            <a:srgbClr val="C2D1C2"/>
          </a:solidFill>
          <a:ln w="19050">
            <a:solidFill>
              <a:srgbClr val="96B4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952500" y="3759200"/>
            <a:ext cx="47371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 smtClean="0">
                <a:solidFill>
                  <a:srgbClr val="162A16"/>
                </a:solidFill>
                <a:latin typeface="맑은 고딕" panose="020B0503020000020004" pitchFamily="50" charset="-127"/>
              </a:rPr>
              <a:t>그린 모드</a:t>
            </a:r>
            <a:endParaRPr lang="ko-KR" altLang="en-US" sz="1100" b="1">
              <a:solidFill>
                <a:srgbClr val="162A1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952500" y="4114800"/>
            <a:ext cx="4737100" cy="152400"/>
          </a:xfrm>
          <a:prstGeom prst="rect">
            <a:avLst/>
          </a:prstGeom>
          <a:solidFill>
            <a:srgbClr val="A9BB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52500" y="4356100"/>
            <a:ext cx="2921000" cy="127000"/>
          </a:xfrm>
          <a:prstGeom prst="rect">
            <a:avLst/>
          </a:prstGeom>
          <a:solidFill>
            <a:srgbClr val="A9BB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952500" y="4495800"/>
            <a:ext cx="47371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83C28"/>
                </a:solidFill>
                <a:latin typeface="맑은 고딕" panose="020B0503020000020004" pitchFamily="50" charset="-127"/>
              </a:rPr>
              <a:t>녹색 계열 배경 </a:t>
            </a:r>
            <a:r>
              <a:rPr lang="en-US" altLang="ko-KR" sz="900" smtClean="0">
                <a:solidFill>
                  <a:srgbClr val="283C2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900" smtClean="0">
                <a:solidFill>
                  <a:srgbClr val="283C28"/>
                </a:solidFill>
                <a:latin typeface="맑은 고딕" panose="020B0503020000020004" pitchFamily="50" charset="-127"/>
              </a:rPr>
              <a:t>눈 피로 감소 효과</a:t>
            </a:r>
            <a:endParaRPr lang="ko-KR" altLang="en-US" sz="900">
              <a:solidFill>
                <a:srgbClr val="283C2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3600" y="50038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38BDF8"/>
                </a:solidFill>
                <a:latin typeface="맑은 고딕" panose="020B0503020000020004" pitchFamily="50" charset="-127"/>
              </a:rPr>
              <a:t>설정은 브라우저에 자동 저장됩니다</a:t>
            </a:r>
            <a:r>
              <a:rPr lang="en-US" altLang="ko-KR" sz="1100" smtClean="0">
                <a:solidFill>
                  <a:srgbClr val="38BDF8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100" smtClean="0">
                <a:solidFill>
                  <a:srgbClr val="38BDF8"/>
                </a:solidFill>
                <a:latin typeface="맑은 고딕" panose="020B0503020000020004" pitchFamily="50" charset="-127"/>
              </a:rPr>
              <a:t>새로고침 후에도 유지됩니다</a:t>
            </a:r>
            <a:r>
              <a:rPr lang="en-US" altLang="ko-KR" sz="1100" smtClean="0">
                <a:solidFill>
                  <a:srgbClr val="38BDF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3600" y="5359400"/>
            <a:ext cx="50165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현재 모드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헤더 아이콘 확인  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태양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=</a:t>
            </a:r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라이트 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달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=</a:t>
            </a:r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다크 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잎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=</a:t>
            </a:r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그린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350000" y="1333500"/>
            <a:ext cx="5270500" cy="4953000"/>
          </a:xfrm>
          <a:prstGeom prst="rect">
            <a:avLst/>
          </a:prstGeom>
          <a:solidFill>
            <a:srgbClr val="253550"/>
          </a:solidFill>
          <a:ln w="19050">
            <a:solidFill>
              <a:srgbClr val="22C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578600" y="149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텍스트 크기 조절</a:t>
            </a:r>
            <a:endParaRPr lang="ko-KR" altLang="en-US" sz="1400" b="1">
              <a:solidFill>
                <a:srgbClr val="22C55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78600" y="19050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헤더 우측 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A+ / A- </a:t>
            </a:r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버튼으로 글자 크기를 조절합니다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604000" y="2324100"/>
            <a:ext cx="952500" cy="457200"/>
          </a:xfrm>
          <a:prstGeom prst="rect">
            <a:avLst/>
          </a:prstGeom>
          <a:solidFill>
            <a:srgbClr val="1C2E4A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6604000" y="2413000"/>
            <a:ext cx="95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4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A+</a:t>
            </a:r>
            <a:endParaRPr lang="ko-KR" altLang="en-US" sz="14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7721600" y="2324100"/>
            <a:ext cx="952500" cy="457200"/>
          </a:xfrm>
          <a:prstGeom prst="rect">
            <a:avLst/>
          </a:prstGeom>
          <a:solidFill>
            <a:srgbClr val="1C2E4A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7721600" y="2413000"/>
            <a:ext cx="95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4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A-</a:t>
            </a:r>
            <a:endParaRPr lang="ko-KR" altLang="en-US" sz="14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8864600" y="2324100"/>
            <a:ext cx="609600" cy="4572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8864600" y="2413000"/>
            <a:ext cx="609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3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16</a:t>
            </a:r>
            <a:endParaRPr lang="ko-KR" altLang="en-US" sz="13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88500" y="2438400"/>
            <a:ext cx="1879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smtClean="0">
                <a:solidFill>
                  <a:srgbClr val="94A3B8"/>
                </a:solidFill>
                <a:latin typeface="맑은 고딕" panose="020B0503020000020004" pitchFamily="50" charset="-127"/>
              </a:rPr>
              <a:t>&lt;- </a:t>
            </a:r>
            <a:r>
              <a:rPr lang="ko-KR" altLang="en-US" sz="9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현재 크기</a:t>
            </a:r>
            <a:endParaRPr lang="ko-KR" altLang="en-US" sz="9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451600" y="2921000"/>
            <a:ext cx="5016500" cy="508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578600" y="3111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크기 단계</a:t>
            </a:r>
            <a:endParaRPr lang="ko-KR" altLang="en-US" sz="12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578600" y="3492500"/>
            <a:ext cx="698500" cy="3302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6578600" y="35433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12px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91400" y="35560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작게 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더 많은 정보가 한 화면에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578600" y="3898900"/>
            <a:ext cx="698500" cy="3302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6578600" y="39497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14px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91400" y="39624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약간 작게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578600" y="4305300"/>
            <a:ext cx="698500" cy="330200"/>
          </a:xfrm>
          <a:prstGeom prst="rect">
            <a:avLst/>
          </a:prstGeom>
          <a:solidFill>
            <a:srgbClr val="1D3557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6578600" y="43561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0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16px</a:t>
            </a:r>
            <a:endParaRPr lang="ko-KR" altLang="en-US" sz="10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391400" y="43688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기본값 </a:t>
            </a:r>
            <a:r>
              <a:rPr lang="en-US" altLang="ko-KR" sz="10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권장</a:t>
            </a:r>
            <a:endParaRPr lang="ko-KR" altLang="en-US" sz="10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578600" y="4711700"/>
            <a:ext cx="698500" cy="3302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6578600" y="47625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18px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391400" y="47752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약간 크게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578600" y="5118100"/>
            <a:ext cx="698500" cy="3302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578600" y="5168900"/>
            <a:ext cx="698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20px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91400" y="5181600"/>
            <a:ext cx="393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크게 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시인성 우선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578600" y="5740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초기화 버튼으로 기본값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(16px)</a:t>
            </a:r>
            <a:r>
              <a:rPr lang="ko-KR" altLang="en-US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으로 복원할 수 있습니다</a:t>
            </a:r>
            <a:r>
              <a:rPr lang="en-US" altLang="ko-KR" sz="11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828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메모 패드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825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화면 왼쪽 사이드바 하단의 개인 메모 기능입니다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새로고침 후에도 내용이 유지됩니다</a:t>
            </a:r>
            <a:r>
              <a:rPr lang="en-US" altLang="ko-KR" sz="120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5000" y="1333500"/>
            <a:ext cx="5461000" cy="4953000"/>
          </a:xfrm>
          <a:prstGeom prst="rect">
            <a:avLst/>
          </a:prstGeom>
          <a:solidFill>
            <a:srgbClr val="253550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3600" y="1498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F59E0B"/>
                </a:solidFill>
                <a:latin typeface="맑은 고딕" panose="020B0503020000020004" pitchFamily="50" charset="-127"/>
              </a:rPr>
              <a:t>기본 사용법</a:t>
            </a:r>
            <a:endParaRPr lang="ko-KR" altLang="en-US" sz="14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1930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메모 추가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600" y="22098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왼쪽 사이드바 내 메모 영역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[+]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버튼 클릭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24892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-&gt;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화면에 스티커 메모 창이 생성됩니다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28702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메모 작성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3600" y="3149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상단 입력란에 메모 제목 입력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3600" y="34290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본문 영역에 내용 자유롭게 작성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3600" y="3708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창 우측 하단 드래그로 크기 조절 가능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3600" y="4089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이동 </a:t>
            </a:r>
            <a:r>
              <a:rPr lang="en-US" altLang="ko-KR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색상 변경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3600" y="43688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상단 바 드래그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-&gt;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원하는 위치에 배치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3600" y="46482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상단 컬러 도트 클릭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-&gt;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메모 색상 변경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3600" y="50292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목록 관리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3600" y="5308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왼쪽 목록 클릭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-&gt;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메모 창 열기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닫기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3600" y="55880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핀 아이콘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-&gt;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메모 고정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항상 최상단 표시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3600" y="5867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전체 메모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] -&gt;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삭제 관리 팝업 열림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350000" y="1333500"/>
            <a:ext cx="5270500" cy="4953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578600" y="149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메모 창 예시</a:t>
            </a:r>
            <a:endParaRPr lang="ko-KR" altLang="en-US" sz="14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477000" y="1905000"/>
            <a:ext cx="2349500" cy="1651000"/>
          </a:xfrm>
          <a:prstGeom prst="rect">
            <a:avLst/>
          </a:prstGeom>
          <a:solidFill>
            <a:srgbClr val="FFF3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6477000" y="1905000"/>
            <a:ext cx="2349500" cy="279400"/>
          </a:xfrm>
          <a:prstGeom prst="rect">
            <a:avLst/>
          </a:prstGeom>
          <a:solidFill>
            <a:srgbClr val="F5D2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6540500" y="1943100"/>
            <a:ext cx="222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 smtClean="0">
                <a:solidFill>
                  <a:srgbClr val="503C00"/>
                </a:solidFill>
                <a:latin typeface="맑은 고딕" panose="020B0503020000020004" pitchFamily="50" charset="-127"/>
              </a:rPr>
              <a:t>거래 처리 목록</a:t>
            </a:r>
            <a:endParaRPr lang="ko-KR" altLang="en-US" sz="900" b="1">
              <a:solidFill>
                <a:srgbClr val="503C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40500" y="2235200"/>
            <a:ext cx="222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smtClean="0">
                <a:solidFill>
                  <a:srgbClr val="3C3200"/>
                </a:solidFill>
                <a:latin typeface="맑은 고딕" panose="020B0503020000020004" pitchFamily="50" charset="-127"/>
              </a:rPr>
              <a:t>- LOL </a:t>
            </a:r>
            <a:r>
              <a:rPr lang="ko-KR" altLang="en-US" sz="900" smtClean="0">
                <a:solidFill>
                  <a:srgbClr val="3C3200"/>
                </a:solidFill>
                <a:latin typeface="맑은 고딕" panose="020B0503020000020004" pitchFamily="50" charset="-127"/>
              </a:rPr>
              <a:t>계정 환불 처리 중
</a:t>
            </a:r>
            <a:r>
              <a:rPr lang="en-US" altLang="ko-KR" sz="900" smtClean="0">
                <a:solidFill>
                  <a:srgbClr val="3C32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900" smtClean="0">
                <a:solidFill>
                  <a:srgbClr val="3C3200"/>
                </a:solidFill>
                <a:latin typeface="맑은 고딕" panose="020B0503020000020004" pitchFamily="50" charset="-127"/>
              </a:rPr>
              <a:t>메이플 사기 신고 접수
</a:t>
            </a:r>
            <a:r>
              <a:rPr lang="en-US" altLang="ko-KR" sz="900" smtClean="0">
                <a:solidFill>
                  <a:srgbClr val="3C32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900" smtClean="0">
                <a:solidFill>
                  <a:srgbClr val="3C3200"/>
                </a:solidFill>
                <a:latin typeface="맑은 고딕" panose="020B0503020000020004" pitchFamily="50" charset="-127"/>
              </a:rPr>
              <a:t>피파 분쟁 답변 완료
</a:t>
            </a:r>
            <a:r>
              <a:rPr lang="en-US" altLang="ko-KR" sz="900" smtClean="0">
                <a:solidFill>
                  <a:srgbClr val="3C3200"/>
                </a:solidFill>
                <a:latin typeface="맑은 고딕" panose="020B0503020000020004" pitchFamily="50" charset="-127"/>
              </a:rPr>
              <a:t>- WOW </a:t>
            </a:r>
            <a:r>
              <a:rPr lang="ko-KR" altLang="en-US" sz="900" smtClean="0">
                <a:solidFill>
                  <a:srgbClr val="3C3200"/>
                </a:solidFill>
                <a:latin typeface="맑은 고딕" panose="020B0503020000020004" pitchFamily="50" charset="-127"/>
              </a:rPr>
              <a:t>거래 확인 대기</a:t>
            </a:r>
            <a:endParaRPr lang="ko-KR" altLang="en-US" sz="900">
              <a:solidFill>
                <a:srgbClr val="3C32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017000" y="1905000"/>
            <a:ext cx="2349500" cy="1651000"/>
          </a:xfrm>
          <a:prstGeom prst="rect">
            <a:avLst/>
          </a:prstGeom>
          <a:solidFill>
            <a:srgbClr val="CCE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9017000" y="1905000"/>
            <a:ext cx="2349500" cy="279400"/>
          </a:xfrm>
          <a:prstGeom prst="rect">
            <a:avLst/>
          </a:prstGeom>
          <a:solidFill>
            <a:srgbClr val="78B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9080500" y="1943100"/>
            <a:ext cx="222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 smtClean="0">
                <a:solidFill>
                  <a:srgbClr val="003278"/>
                </a:solidFill>
                <a:latin typeface="맑은 고딕" panose="020B0503020000020004" pitchFamily="50" charset="-127"/>
              </a:rPr>
              <a:t>공지 작성 메모</a:t>
            </a:r>
            <a:endParaRPr lang="ko-KR" altLang="en-US" sz="900" b="1">
              <a:solidFill>
                <a:srgbClr val="0032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80500" y="2235200"/>
            <a:ext cx="222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smtClean="0">
                <a:solidFill>
                  <a:srgbClr val="002864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900" smtClean="0">
                <a:solidFill>
                  <a:srgbClr val="002864"/>
                </a:solidFill>
                <a:latin typeface="맑은 고딕" panose="020B0503020000020004" pitchFamily="50" charset="-127"/>
              </a:rPr>
              <a:t>환불 규정 변경 공지
</a:t>
            </a:r>
            <a:r>
              <a:rPr lang="en-US" altLang="ko-KR" sz="900" smtClean="0">
                <a:solidFill>
                  <a:srgbClr val="002864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900" smtClean="0">
                <a:solidFill>
                  <a:srgbClr val="002864"/>
                </a:solidFill>
                <a:latin typeface="맑은 고딕" panose="020B0503020000020004" pitchFamily="50" charset="-127"/>
              </a:rPr>
              <a:t>신규 사기 패턴 안내
</a:t>
            </a:r>
            <a:r>
              <a:rPr lang="en-US" altLang="ko-KR" sz="900" smtClean="0">
                <a:solidFill>
                  <a:srgbClr val="002864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900" smtClean="0">
                <a:solidFill>
                  <a:srgbClr val="002864"/>
                </a:solidFill>
                <a:latin typeface="맑은 고딕" panose="020B0503020000020004" pitchFamily="50" charset="-127"/>
              </a:rPr>
              <a:t>주간 점검 일정
</a:t>
            </a:r>
            <a:r>
              <a:rPr lang="en-US" altLang="ko-KR" sz="900" smtClean="0">
                <a:solidFill>
                  <a:srgbClr val="002864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900" smtClean="0">
                <a:solidFill>
                  <a:srgbClr val="002864"/>
                </a:solidFill>
                <a:latin typeface="맑은 고딕" panose="020B0503020000020004" pitchFamily="50" charset="-127"/>
              </a:rPr>
              <a:t>이벤트 공지 예정</a:t>
            </a:r>
            <a:endParaRPr lang="ko-KR" altLang="en-US" sz="900">
              <a:solidFill>
                <a:srgbClr val="0028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451600" y="3746500"/>
            <a:ext cx="5016500" cy="508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78600" y="3911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왼쪽 사이드바 메모 목록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578600" y="4254500"/>
            <a:ext cx="4889500" cy="431800"/>
          </a:xfrm>
          <a:prstGeom prst="rect">
            <a:avLst/>
          </a:prstGeom>
          <a:solidFill>
            <a:srgbClr val="1D2D48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6629400" y="4330700"/>
            <a:ext cx="127000" cy="127000"/>
          </a:xfrm>
          <a:prstGeom prst="rect">
            <a:avLst/>
          </a:prstGeom>
          <a:solidFill>
            <a:srgbClr val="F5D2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6819900" y="43434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거래 처리 목록</a:t>
            </a:r>
            <a:endParaRPr lang="ko-KR" altLang="en-US" sz="9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578600" y="4762500"/>
            <a:ext cx="4889500" cy="431800"/>
          </a:xfrm>
          <a:prstGeom prst="rect">
            <a:avLst/>
          </a:prstGeom>
          <a:solidFill>
            <a:srgbClr val="1D2D48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6629400" y="4838700"/>
            <a:ext cx="127000" cy="127000"/>
          </a:xfrm>
          <a:prstGeom prst="rect">
            <a:avLst/>
          </a:prstGeom>
          <a:solidFill>
            <a:srgbClr val="78B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6819900" y="48514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공지 작성 메모</a:t>
            </a:r>
            <a:endParaRPr lang="ko-KR" altLang="en-US" sz="9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578600" y="5334000"/>
            <a:ext cx="4889500" cy="406400"/>
          </a:xfrm>
          <a:prstGeom prst="rect">
            <a:avLst/>
          </a:prstGeom>
          <a:solidFill>
            <a:srgbClr val="1C2E4A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6578600" y="5435600"/>
            <a:ext cx="4889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0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전체 </a:t>
            </a:r>
            <a:r>
              <a:rPr lang="ko-KR" altLang="en-US" sz="10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메모</a:t>
            </a:r>
            <a:endParaRPr lang="ko-KR" altLang="en-US" sz="1000" b="1" dirty="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78600" y="5867400"/>
            <a:ext cx="482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메모는 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브라우저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크롬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dirty="0" err="1" smtClean="0">
                <a:solidFill>
                  <a:srgbClr val="94A3B8"/>
                </a:solidFill>
                <a:latin typeface="맑은 고딕" panose="020B0503020000020004" pitchFamily="50" charset="-127"/>
              </a:rPr>
              <a:t>엣지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에 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저장됩니다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다른 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실무자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와는 </a:t>
            </a:r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공유되지 않습니다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메모 활용을 위해 항상 사용하는 브라우저에서만 사용을 해야 지속 유지됩니다</a:t>
            </a:r>
            <a:r>
              <a:rPr lang="en-US" altLang="ko-KR" sz="10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161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스케줄표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000" y="8255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팀 업무 일정을 월간</a:t>
            </a:r>
            <a:r>
              <a:rPr lang="en-US" altLang="ko-KR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주간 캘린더로 관리하는 기능입니다</a:t>
            </a:r>
            <a:r>
              <a:rPr lang="en-US" altLang="ko-KR" sz="1200" dirty="0" smtClean="0">
                <a:solidFill>
                  <a:srgbClr val="94A3B8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 dirty="0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5000" y="1333500"/>
            <a:ext cx="5461000" cy="4953000"/>
          </a:xfrm>
          <a:prstGeom prst="rect">
            <a:avLst/>
          </a:prstGeom>
          <a:solidFill>
            <a:srgbClr val="253550"/>
          </a:solidFill>
          <a:ln w="19050">
            <a:solidFill>
              <a:srgbClr val="22C5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3600" y="1498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스케줄 열기 </a:t>
            </a:r>
            <a:r>
              <a:rPr lang="en-US" altLang="ko-KR" sz="14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&amp; </a:t>
            </a:r>
            <a:r>
              <a:rPr lang="ko-KR" altLang="en-US" sz="1400" b="1" smtClean="0">
                <a:solidFill>
                  <a:srgbClr val="22C55E"/>
                </a:solidFill>
                <a:latin typeface="맑은 고딕" panose="020B0503020000020004" pitchFamily="50" charset="-127"/>
              </a:rPr>
              <a:t>기본 사용</a:t>
            </a:r>
            <a:endParaRPr lang="ko-KR" altLang="en-US" sz="1400" b="1">
              <a:solidFill>
                <a:srgbClr val="22C55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3600" y="1930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헤더 메뉴에서 스케줄 버튼</a:t>
            </a:r>
            <a:r>
              <a:rPr lang="en-US" altLang="ko-KR" sz="11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시계</a:t>
            </a:r>
            <a:r>
              <a:rPr lang="en-US" altLang="ko-KR" sz="11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b="1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클릭</a:t>
            </a:r>
            <a:endParaRPr lang="ko-KR" altLang="en-US" sz="1100" b="1" dirty="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600" y="22098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월간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/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주간 보기 탭으로 전환 가능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24892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상단 화살표로 이전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다음 기간 이동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6600" y="2857500"/>
            <a:ext cx="5270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63600" y="30099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일정 등록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3600" y="32893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날짜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칸 클릭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-&gt;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색상 선택 팝업 표시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3600" y="35687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셀 메모 클릭 </a:t>
            </a:r>
            <a:r>
              <a:rPr lang="en-US" altLang="ko-KR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-&gt; 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해당 칸에 메모 입력 가능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3600" y="38481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엑셀 데이터 복사 후 </a:t>
            </a:r>
            <a:r>
              <a:rPr lang="ko-KR" altLang="en-US" sz="1100" dirty="0" err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붙여넣기로</a:t>
            </a:r>
            <a:r>
              <a:rPr lang="ko-KR" altLang="en-US" sz="11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일괄 등록</a:t>
            </a:r>
            <a:endParaRPr lang="ko-KR" altLang="en-US" sz="11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36600" y="4216400"/>
            <a:ext cx="5270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863600" y="43688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그룹 필터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3600" y="46482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상단 그룹 버튼으로 팀원별 일정 필터 가능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3600" y="4927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나만 보기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팀 전체 보기 등 전환 가능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36600" y="5283200"/>
            <a:ext cx="5270500" cy="38100"/>
          </a:xfrm>
          <a:prstGeom prst="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63600" y="54356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 smtClean="0">
                <a:solidFill>
                  <a:srgbClr val="F59E0B"/>
                </a:solidFill>
                <a:latin typeface="맑은 고딕" panose="020B0503020000020004" pitchFamily="50" charset="-127"/>
              </a:rPr>
              <a:t>공휴일 관리 </a:t>
            </a:r>
            <a:r>
              <a:rPr lang="en-US" altLang="ko-KR" sz="1200" b="1" smtClean="0">
                <a:solidFill>
                  <a:srgbClr val="F59E0B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1" smtClean="0">
                <a:solidFill>
                  <a:srgbClr val="F59E0B"/>
                </a:solidFill>
                <a:latin typeface="맑은 고딕" panose="020B0503020000020004" pitchFamily="50" charset="-127"/>
              </a:rPr>
              <a:t>관리자 전용</a:t>
            </a:r>
            <a:r>
              <a:rPr lang="en-US" altLang="ko-KR" sz="1200" b="1" smtClean="0">
                <a:solidFill>
                  <a:srgbClr val="F59E0B"/>
                </a:solidFill>
                <a:latin typeface="맑은 고딕" panose="020B0503020000020004" pitchFamily="50" charset="-127"/>
              </a:rPr>
              <a:t>)</a:t>
            </a:r>
            <a:endParaRPr lang="ko-KR" altLang="en-US" sz="12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3600" y="57150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공휴일 버튼으로 공휴일 추가</a:t>
            </a:r>
            <a:r>
              <a:rPr lang="en-US" altLang="ko-KR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삭제 가능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3600" y="5994400"/>
            <a:ext cx="5016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CBD5E1"/>
                </a:solidFill>
                <a:latin typeface="맑은 고딕" panose="020B0503020000020004" pitchFamily="50" charset="-127"/>
              </a:rPr>
              <a:t>  공휴일은 빨간색으로 자동 표시됩니다</a:t>
            </a:r>
            <a:endParaRPr lang="ko-KR" altLang="en-US" sz="11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350000" y="1333500"/>
            <a:ext cx="5270500" cy="4953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578600" y="14986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스케줄 화면 예시 </a:t>
            </a:r>
            <a:r>
              <a:rPr lang="en-US" altLang="ko-KR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월간</a:t>
            </a:r>
            <a:r>
              <a:rPr lang="en-US" altLang="ko-KR" sz="14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)</a:t>
            </a:r>
            <a:endParaRPr lang="ko-KR" altLang="en-US" sz="14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451600" y="1905000"/>
            <a:ext cx="685800" cy="381000"/>
          </a:xfrm>
          <a:prstGeom prst="rect">
            <a:avLst/>
          </a:prstGeom>
          <a:solidFill>
            <a:srgbClr val="1C2E4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451600" y="2006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월</a:t>
            </a:r>
            <a:endParaRPr lang="ko-KR" altLang="en-US" sz="9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162800" y="1905000"/>
            <a:ext cx="685800" cy="381000"/>
          </a:xfrm>
          <a:prstGeom prst="rect">
            <a:avLst/>
          </a:prstGeom>
          <a:solidFill>
            <a:srgbClr val="1C2E4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7162800" y="2006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화</a:t>
            </a:r>
            <a:endParaRPr lang="ko-KR" altLang="en-US" sz="9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7874000" y="1905000"/>
            <a:ext cx="685800" cy="381000"/>
          </a:xfrm>
          <a:prstGeom prst="rect">
            <a:avLst/>
          </a:prstGeom>
          <a:solidFill>
            <a:srgbClr val="1C2E4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7874000" y="2006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수</a:t>
            </a:r>
            <a:endParaRPr lang="ko-KR" altLang="en-US" sz="9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8585200" y="1905000"/>
            <a:ext cx="685800" cy="381000"/>
          </a:xfrm>
          <a:prstGeom prst="rect">
            <a:avLst/>
          </a:prstGeom>
          <a:solidFill>
            <a:srgbClr val="1C2E4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8585200" y="2006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목</a:t>
            </a:r>
            <a:endParaRPr lang="ko-KR" altLang="en-US" sz="9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9296400" y="1905000"/>
            <a:ext cx="685800" cy="381000"/>
          </a:xfrm>
          <a:prstGeom prst="rect">
            <a:avLst/>
          </a:prstGeom>
          <a:solidFill>
            <a:srgbClr val="1C2E4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9296400" y="2006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금</a:t>
            </a:r>
            <a:endParaRPr lang="ko-KR" altLang="en-US" sz="900" b="1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0007600" y="1905000"/>
            <a:ext cx="685800" cy="381000"/>
          </a:xfrm>
          <a:prstGeom prst="rect">
            <a:avLst/>
          </a:prstGeom>
          <a:solidFill>
            <a:srgbClr val="1C2E4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10007600" y="2006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3B82F6"/>
                </a:solidFill>
                <a:latin typeface="맑은 고딕" panose="020B0503020000020004" pitchFamily="50" charset="-127"/>
              </a:rPr>
              <a:t>토</a:t>
            </a:r>
            <a:endParaRPr lang="ko-KR" altLang="en-US" sz="9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0718800" y="1905000"/>
            <a:ext cx="685800" cy="381000"/>
          </a:xfrm>
          <a:prstGeom prst="rect">
            <a:avLst/>
          </a:prstGeom>
          <a:solidFill>
            <a:srgbClr val="1C2E4A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10718800" y="2006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 smtClean="0">
                <a:solidFill>
                  <a:srgbClr val="EF4444"/>
                </a:solidFill>
                <a:latin typeface="맑은 고딕" panose="020B0503020000020004" pitchFamily="50" charset="-127"/>
              </a:rPr>
              <a:t>일</a:t>
            </a:r>
            <a:endParaRPr lang="ko-KR" altLang="en-US" sz="9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451600" y="2311400"/>
            <a:ext cx="685800" cy="381000"/>
          </a:xfrm>
          <a:prstGeom prst="rect">
            <a:avLst/>
          </a:prstGeom>
          <a:solidFill>
            <a:srgbClr val="1D3557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6451600" y="23622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162800" y="23114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7162800" y="23622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2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874000" y="23114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7874000" y="23622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3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8585200" y="2311400"/>
            <a:ext cx="685800" cy="381000"/>
          </a:xfrm>
          <a:prstGeom prst="rect">
            <a:avLst/>
          </a:prstGeom>
          <a:solidFill>
            <a:srgbClr val="163A26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8585200" y="23622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4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9296400" y="23114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9296400" y="23622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5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0007600" y="23114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10007600" y="23622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B82F6"/>
                </a:solidFill>
                <a:latin typeface="맑은 고딕" panose="020B0503020000020004" pitchFamily="50" charset="-127"/>
              </a:rPr>
              <a:t>6</a:t>
            </a:r>
            <a:endParaRPr lang="ko-KR" altLang="en-US" sz="900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0718800" y="23114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10718800" y="23622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EF4444"/>
                </a:solidFill>
                <a:latin typeface="맑은 고딕" panose="020B0503020000020004" pitchFamily="50" charset="-127"/>
              </a:rPr>
              <a:t>7</a:t>
            </a:r>
            <a:endParaRPr lang="ko-KR" altLang="en-US" sz="900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451600" y="27178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6451600" y="2768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8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162800" y="27178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7162800" y="2768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9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874000" y="2717800"/>
            <a:ext cx="685800" cy="381000"/>
          </a:xfrm>
          <a:prstGeom prst="rect">
            <a:avLst/>
          </a:prstGeom>
          <a:solidFill>
            <a:srgbClr val="1D3557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7874000" y="2768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10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8585200" y="27178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8585200" y="2768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11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9296400" y="27178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9296400" y="2768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12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0007600" y="27178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10007600" y="2768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B82F6"/>
                </a:solidFill>
                <a:latin typeface="맑은 고딕" panose="020B0503020000020004" pitchFamily="50" charset="-127"/>
              </a:rPr>
              <a:t>13</a:t>
            </a:r>
            <a:endParaRPr lang="ko-KR" altLang="en-US" sz="900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10718800" y="27178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10718800" y="27686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EF4444"/>
                </a:solidFill>
                <a:latin typeface="맑은 고딕" panose="020B0503020000020004" pitchFamily="50" charset="-127"/>
              </a:rPr>
              <a:t>14</a:t>
            </a:r>
            <a:endParaRPr lang="ko-KR" altLang="en-US" sz="900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6451600" y="31242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6451600" y="31750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15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7162800" y="3124200"/>
            <a:ext cx="685800" cy="381000"/>
          </a:xfrm>
          <a:prstGeom prst="rect">
            <a:avLst/>
          </a:prstGeom>
          <a:solidFill>
            <a:srgbClr val="501E1E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7162800" y="31750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16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7874000" y="31242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7874000" y="31750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17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585200" y="31242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8585200" y="31750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18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9296400" y="3124200"/>
            <a:ext cx="685800" cy="381000"/>
          </a:xfrm>
          <a:prstGeom prst="rect">
            <a:avLst/>
          </a:prstGeom>
          <a:solidFill>
            <a:srgbClr val="163A26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9296400" y="31750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19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10007600" y="31242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10007600" y="31750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B82F6"/>
                </a:solidFill>
                <a:latin typeface="맑은 고딕" panose="020B0503020000020004" pitchFamily="50" charset="-127"/>
              </a:rPr>
              <a:t>20</a:t>
            </a:r>
            <a:endParaRPr lang="ko-KR" altLang="en-US" sz="900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10718800" y="31242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10718800" y="31750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EF4444"/>
                </a:solidFill>
                <a:latin typeface="맑은 고딕" panose="020B0503020000020004" pitchFamily="50" charset="-127"/>
              </a:rPr>
              <a:t>21</a:t>
            </a:r>
            <a:endParaRPr lang="ko-KR" altLang="en-US" sz="900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451600" y="3530600"/>
            <a:ext cx="685800" cy="381000"/>
          </a:xfrm>
          <a:prstGeom prst="rect">
            <a:avLst/>
          </a:prstGeom>
          <a:solidFill>
            <a:srgbClr val="1D3557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6451600" y="35814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22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7162800" y="35306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7162800" y="35814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23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7874000" y="35306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7874000" y="35814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24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8585200" y="35306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8585200" y="35814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25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9296400" y="35306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9296400" y="35814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26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0007600" y="35306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10007600" y="35814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B82F6"/>
                </a:solidFill>
                <a:latin typeface="맑은 고딕" panose="020B0503020000020004" pitchFamily="50" charset="-127"/>
              </a:rPr>
              <a:t>27</a:t>
            </a:r>
            <a:endParaRPr lang="ko-KR" altLang="en-US" sz="900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10718800" y="35306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/>
          <p:cNvSpPr txBox="1"/>
          <p:nvPr/>
        </p:nvSpPr>
        <p:spPr>
          <a:xfrm>
            <a:off x="10718800" y="35814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EF4444"/>
                </a:solidFill>
                <a:latin typeface="맑은 고딕" panose="020B0503020000020004" pitchFamily="50" charset="-127"/>
              </a:rPr>
              <a:t>28</a:t>
            </a:r>
            <a:endParaRPr lang="ko-KR" altLang="en-US" sz="900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6451600" y="39370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6451600" y="39878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29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7162800" y="39370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7162800" y="39878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30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7874000" y="3937000"/>
            <a:ext cx="685800" cy="3810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7874000" y="3987800"/>
            <a:ext cx="685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smtClean="0">
                <a:solidFill>
                  <a:srgbClr val="CBD5E1"/>
                </a:solidFill>
                <a:latin typeface="맑은 고딕" panose="020B0503020000020004" pitchFamily="50" charset="-127"/>
              </a:rPr>
              <a:t>31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8585200" y="3937000"/>
            <a:ext cx="685800" cy="381000"/>
          </a:xfrm>
          <a:prstGeom prst="rect">
            <a:avLst/>
          </a:prstGeom>
          <a:solidFill>
            <a:srgbClr val="141C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9296400" y="3937000"/>
            <a:ext cx="685800" cy="381000"/>
          </a:xfrm>
          <a:prstGeom prst="rect">
            <a:avLst/>
          </a:prstGeom>
          <a:solidFill>
            <a:srgbClr val="141C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10007600" y="3937000"/>
            <a:ext cx="685800" cy="381000"/>
          </a:xfrm>
          <a:prstGeom prst="rect">
            <a:avLst/>
          </a:prstGeom>
          <a:solidFill>
            <a:srgbClr val="141C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/>
          <p:cNvSpPr/>
          <p:nvPr/>
        </p:nvSpPr>
        <p:spPr>
          <a:xfrm>
            <a:off x="10718800" y="3937000"/>
            <a:ext cx="685800" cy="381000"/>
          </a:xfrm>
          <a:prstGeom prst="rect">
            <a:avLst/>
          </a:prstGeom>
          <a:solidFill>
            <a:srgbClr val="141C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/>
          <p:cNvSpPr txBox="1"/>
          <p:nvPr/>
        </p:nvSpPr>
        <p:spPr>
          <a:xfrm>
            <a:off x="6578600" y="4254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 b="1" smtClean="0">
                <a:solidFill>
                  <a:srgbClr val="94A3B8"/>
                </a:solidFill>
                <a:latin typeface="맑은 고딕" panose="020B0503020000020004" pitchFamily="50" charset="-127"/>
              </a:rPr>
              <a:t>색상 범례</a:t>
            </a:r>
            <a:r>
              <a:rPr lang="en-US" altLang="ko-KR" sz="1000" b="1" smtClean="0">
                <a:solidFill>
                  <a:srgbClr val="94A3B8"/>
                </a:solidFill>
                <a:latin typeface="맑은 고딕" panose="020B0503020000020004" pitchFamily="50" charset="-127"/>
              </a:rPr>
              <a:t>:</a:t>
            </a:r>
            <a:endParaRPr lang="ko-KR" altLang="en-US" sz="1000" b="1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6578600" y="4546600"/>
            <a:ext cx="177800" cy="177800"/>
          </a:xfrm>
          <a:prstGeom prst="rect">
            <a:avLst/>
          </a:prstGeom>
          <a:solidFill>
            <a:srgbClr val="1D355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/>
          <p:cNvSpPr txBox="1"/>
          <p:nvPr/>
        </p:nvSpPr>
        <p:spPr>
          <a:xfrm>
            <a:off x="6794500" y="4546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색상 내용은 </a:t>
            </a:r>
            <a:r>
              <a:rPr lang="ko-KR" altLang="en-US" sz="900" dirty="0" err="1" smtClean="0">
                <a:solidFill>
                  <a:srgbClr val="CBD5E1"/>
                </a:solidFill>
                <a:latin typeface="맑은 고딕" panose="020B0503020000020004" pitchFamily="50" charset="-127"/>
              </a:rPr>
              <a:t>스케쥴</a:t>
            </a:r>
            <a:r>
              <a:rPr lang="ko-KR" altLang="en-US" sz="900" dirty="0" smtClean="0">
                <a:solidFill>
                  <a:srgbClr val="CBD5E1"/>
                </a:solidFill>
                <a:latin typeface="맑은 고딕" panose="020B0503020000020004" pitchFamily="50" charset="-127"/>
              </a:rPr>
              <a:t> 표 참고 확인</a:t>
            </a:r>
            <a:endParaRPr lang="en-US" altLang="ko-KR" sz="900" dirty="0" smtClean="0">
              <a:solidFill>
                <a:srgbClr val="CBD5E1"/>
              </a:solidFill>
              <a:latin typeface="맑은 고딕" panose="020B0503020000020004" pitchFamily="50" charset="-127"/>
            </a:endParaRPr>
          </a:p>
          <a:p>
            <a:endParaRPr lang="ko-KR" altLang="en-US" sz="9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6578600" y="4800600"/>
            <a:ext cx="177800" cy="177800"/>
          </a:xfrm>
          <a:prstGeom prst="rect">
            <a:avLst/>
          </a:prstGeom>
          <a:solidFill>
            <a:srgbClr val="163A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6819900" y="4800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ko-KR" altLang="en-US" sz="9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6578600" y="5054600"/>
            <a:ext cx="177800" cy="177800"/>
          </a:xfrm>
          <a:prstGeom prst="rect">
            <a:avLst/>
          </a:prstGeom>
          <a:solidFill>
            <a:srgbClr val="501E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/>
          <p:cNvSpPr txBox="1"/>
          <p:nvPr/>
        </p:nvSpPr>
        <p:spPr>
          <a:xfrm>
            <a:off x="6819900" y="5054600"/>
            <a:ext cx="355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ko-KR" altLang="en-US" sz="900" dirty="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6578600" y="53975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우측 상단 접힌 부분 클릭 시 메모 </a:t>
            </a:r>
            <a:r>
              <a:rPr lang="ko-KR" altLang="en-US" sz="1100" dirty="0" err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입력창이</a:t>
            </a:r>
            <a:r>
              <a:rPr lang="ko-KR" altLang="en-US" sz="1100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 열립니다</a:t>
            </a:r>
            <a:r>
              <a:rPr lang="en-US" altLang="ko-KR" sz="1100" dirty="0" smtClean="0">
                <a:solidFill>
                  <a:srgbClr val="38BDF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dirty="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578600" y="57150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38BDF8"/>
                </a:solidFill>
                <a:latin typeface="맑은 고딕" panose="020B0503020000020004" pitchFamily="50" charset="-127"/>
              </a:rPr>
              <a:t>엑셀 표를 복사 후 붙여넣기로 일괄 등록 가능합니다</a:t>
            </a:r>
            <a:r>
              <a:rPr lang="en-US" altLang="ko-KR" sz="1100" smtClean="0">
                <a:solidFill>
                  <a:srgbClr val="38BDF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578600" y="59944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smtClean="0">
                <a:solidFill>
                  <a:srgbClr val="38BDF8"/>
                </a:solidFill>
                <a:latin typeface="맑은 고딕" panose="020B0503020000020004" pitchFamily="50" charset="-127"/>
              </a:rPr>
              <a:t>일정은 클라우드에 저장되어 팀원 전체가 공유합니다</a:t>
            </a:r>
            <a:r>
              <a:rPr lang="en-US" altLang="ko-KR" sz="1100" smtClean="0">
                <a:solidFill>
                  <a:srgbClr val="38BDF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0959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35000" y="2286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6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자주 묻는 질문</a:t>
            </a:r>
            <a:endParaRPr lang="ko-KR" altLang="en-US" sz="26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35000" y="1117600"/>
            <a:ext cx="10922000" cy="6604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25500" y="11811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Q.  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엣지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사파리 브라우저도 사용 가능한가요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?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5500" y="14351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A. 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네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실무자는 모든 브라우저에서 사용 가능합니다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35000" y="1879600"/>
            <a:ext cx="10922000" cy="6604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25500" y="19431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Q.  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새창 알림이 안 와요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5500" y="21971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A. 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슬라이드 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7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의 알림 허용 방법을 따라주세요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차단 상태라면 주소창 자물쇠 아이콘에서 허용으로 변경하세요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35000" y="2641600"/>
            <a:ext cx="10922000" cy="6604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25500" y="27051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Q.  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새로고침하면 설정이 사라지나요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?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5500" y="29591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A. 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아니요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모든 설정은 클라우드에 저장되어 새로고침 후에도 유지됩니다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35000" y="3403600"/>
            <a:ext cx="10922000" cy="6604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25500" y="34671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Q.  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업데이트는 어떻게 알 수 있나요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?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5500" y="37211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A. 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새 버전 배포 시 상단에 노란 배너가 자동 표시됩니다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배너 클릭으로 최신 버전을 적용하세요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35000" y="4165600"/>
            <a:ext cx="10922000" cy="6604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25500" y="42291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Q.  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채팅 내용이 사라졌어요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5500" y="44831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A. 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채팅 내용은 새로고침 시 초기화됩니다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중요한 내용은 따로 복사해 보관하세요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35000" y="4927600"/>
            <a:ext cx="10922000" cy="660400"/>
          </a:xfrm>
          <a:prstGeom prst="rect">
            <a:avLst/>
          </a:prstGeom>
          <a:solidFill>
            <a:srgbClr val="253550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25500" y="49911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Q.  AI </a:t>
            </a:r>
            <a:r>
              <a:rPr lang="ko-KR" altLang="en-US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기능이 동작하지 않아요</a:t>
            </a:r>
            <a:r>
              <a:rPr lang="en-US" altLang="ko-KR" sz="1100" b="1" smtClean="0">
                <a:solidFill>
                  <a:srgbClr val="38BDF8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 b="1">
              <a:solidFill>
                <a:srgbClr val="38BDF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5500" y="52451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A.  API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키 미등록 상태입니다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관리자에게 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API </a:t>
            </a:r>
            <a:r>
              <a:rPr lang="ko-KR" altLang="en-US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키 등록을 요청하세요</a:t>
            </a:r>
            <a:r>
              <a:rPr lang="en-US" altLang="ko-KR" sz="1000" smtClean="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5000" y="5715000"/>
            <a:ext cx="10922000" cy="609600"/>
          </a:xfrm>
          <a:prstGeom prst="rect">
            <a:avLst/>
          </a:prstGeom>
          <a:solidFill>
            <a:srgbClr val="1C2E4A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635000" y="58674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300" b="1" dirty="0" smtClean="0">
                <a:solidFill>
                  <a:srgbClr val="FFFFFF"/>
                </a:solidFill>
                <a:latin typeface="맑은 고딕" panose="020B0503020000020004" pitchFamily="50" charset="-127"/>
              </a:rPr>
              <a:t>문의사항은 관리자에게 연락해주세요</a:t>
            </a:r>
            <a:endParaRPr lang="ko-KR" altLang="en-US" sz="1300" b="1" dirty="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32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1574</Words>
  <Application>Microsoft Office PowerPoint</Application>
  <PresentationFormat>와이드스크린</PresentationFormat>
  <Paragraphs>273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baekhwisub</dc:creator>
  <cp:lastModifiedBy>baekhwisub</cp:lastModifiedBy>
  <cp:revision>9</cp:revision>
  <dcterms:created xsi:type="dcterms:W3CDTF">2026-05-07T14:27:10Z</dcterms:created>
  <dcterms:modified xsi:type="dcterms:W3CDTF">2026-05-07T15:32:10Z</dcterms:modified>
</cp:coreProperties>
</file>